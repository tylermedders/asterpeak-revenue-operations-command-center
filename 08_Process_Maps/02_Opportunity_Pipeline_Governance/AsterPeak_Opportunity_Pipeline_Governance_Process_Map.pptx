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B801F-18DF-7CF1-8825-5B2B9710B5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E2E6E5-373F-6C56-EA6D-8E7FFFE602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F1B827-CB95-3DE9-03E9-5CC5ACC74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F4849-9655-454E-B594-B8AB10E95AED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DBD683-0A21-0AB0-EFEA-362F0FE61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35D1F3-9150-5CD6-E9FA-C10B46825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D2B8-8B40-4738-9DE8-F32DA69E5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075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FB0B7-E65F-C526-4202-A7B10FFC7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3B39A-D59B-99C2-8649-76E0B6CA50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CF8A8F-C74A-F4F3-2311-499AAAF79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F4849-9655-454E-B594-B8AB10E95AED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F3A76-F42E-E1DB-6064-CD12B9631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7B2F50-03B3-2EE5-A3A5-2DDADFC3D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D2B8-8B40-4738-9DE8-F32DA69E5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731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7DDB0-CE6F-8317-50B4-9F8EE298D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DF29CB-E8CA-0211-3125-FC3B03378A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99ECD9-AB6E-33CE-0882-ECF79533C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F4849-9655-454E-B594-B8AB10E95AED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2D1300-813C-2A85-5157-2647AB030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2E0107-BB1B-B7E6-144B-DB80E6905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D2B8-8B40-4738-9DE8-F32DA69E5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3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C506B-940B-A0B0-9149-15FEBF7DA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BDB69-103F-FA05-7B37-C6E2C7C388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70875D-7406-D8A9-A612-7224E6876A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EFF2DE-E622-5028-9C15-0D04EE299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F4849-9655-454E-B594-B8AB10E95AED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AB57B3-A67B-FAE3-6DCE-A6CB66C57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140084-A6EE-6729-3604-5847A7A9D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D2B8-8B40-4738-9DE8-F32DA69E5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993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4992B-E625-A855-B170-0D88A2957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BBDB3E-AE92-4F82-1B19-721E0DC49D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71EC43-0553-B74D-B624-C4D49C6627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DC45C9-5D5F-A918-F66C-2417F305FD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A66FDC-0DEF-C5EA-3B2B-CF2C4ADF12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77D348-B8F9-5D19-750A-C753AC66B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F4849-9655-454E-B594-B8AB10E95AED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5928D1-CDDD-8D09-9D5C-F0AC31883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4D552F-4C30-D3C2-520E-14460EAF5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D2B8-8B40-4738-9DE8-F32DA69E5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548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402DC-52A1-F991-AFF3-70D1823BE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ACDA91-B1CC-C917-8CFA-F69ECC01C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F4849-9655-454E-B594-B8AB10E95AED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57D030-2CCC-896A-9DFC-94932CF77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EBCB43-FA6D-7881-1D17-6A5EAFA3B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D2B8-8B40-4738-9DE8-F32DA69E5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990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EE8F1B-0995-FD72-15E1-A8001D272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F4849-9655-454E-B594-B8AB10E95AED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C3E773-843C-D40A-0288-F12801408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0001DF-54EC-0534-E8CF-D919556C1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D2B8-8B40-4738-9DE8-F32DA69E5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857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D3F10-14AB-C9C6-6365-875145FC8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362DB-6DF9-95F0-C35D-270409F813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B1330A-E26B-7615-F411-5D9B3F3B3E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37D18F-7B2A-AD06-4A4C-AA34425FC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F4849-9655-454E-B594-B8AB10E95AED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0D1EC-4DE8-30C6-626E-99AD71976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7263A-F26B-8E63-2A2E-A719F6595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D2B8-8B40-4738-9DE8-F32DA69E5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390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91879-7874-1B06-D0C3-4D4C09257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BFD014-B9C0-A3B1-86CA-CBE4CBC9D69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62240-E4E3-DE86-DB92-094D37DA99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E0C676-6A76-8399-A2BC-280759E14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F4849-9655-454E-B594-B8AB10E95AED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B2801B-C2FC-7ABA-B8AE-4A2446821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1D3648-1F56-BEB2-06CE-040877679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D2B8-8B40-4738-9DE8-F32DA69E5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242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16676-CE77-0D29-DF60-919DB8A0F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368CC1-B768-9FFD-5CC5-D53502BD9C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237470-84D8-DB61-595C-35538DE8E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F4849-9655-454E-B594-B8AB10E95AED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69CF3-36E0-D931-E612-40D173562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E18660-A32B-688E-8829-02F70D33E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D2B8-8B40-4738-9DE8-F32DA69E5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634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D6F402-5A54-B135-12D1-69705D468A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9C3537-E01C-3654-1062-B3F86B868A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592BD9-1CB2-CEC8-9D32-E935B0697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F4849-9655-454E-B594-B8AB10E95AED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E7B9BF-18FF-A64E-B084-688D54783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ED43DF-5BBB-AB70-5695-884ED0304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D2B8-8B40-4738-9DE8-F32DA69E5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809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0B4BA3-00E4-2A72-DF48-AE541BF3F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0CF234-D790-A8E9-F808-2CB22639D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E9D3AA-4FA5-03B2-7FD7-AB1442BA5D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5F4849-9655-454E-B594-B8AB10E95AED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0776AD-7276-3286-C9D5-6F8B8C6994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6B38E0-E988-C492-AA9D-AAD315BE9F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D9D2B8-8B40-4738-9DE8-F32DA69E5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443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CBC02-CBC6-C749-5842-134CFBF39E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469491"/>
          </a:xfrm>
        </p:spPr>
        <p:txBody>
          <a:bodyPr>
            <a:noAutofit/>
          </a:bodyPr>
          <a:lstStyle/>
          <a:p>
            <a:r>
              <a:rPr lang="en-US" sz="2800" dirty="0"/>
              <a:t>AsterPeak Software — Opportunity Pipeline Governance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0693160-81CA-B6DB-ECD3-3A5606B11270}"/>
              </a:ext>
            </a:extLst>
          </p:cNvPr>
          <p:cNvSpPr/>
          <p:nvPr/>
        </p:nvSpPr>
        <p:spPr>
          <a:xfrm>
            <a:off x="144855" y="2694910"/>
            <a:ext cx="1837854" cy="10388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A4138435-63AA-EFAC-43C5-EF0DE341FDB6}"/>
              </a:ext>
            </a:extLst>
          </p:cNvPr>
          <p:cNvSpPr/>
          <p:nvPr/>
        </p:nvSpPr>
        <p:spPr>
          <a:xfrm>
            <a:off x="2177546" y="2694909"/>
            <a:ext cx="1837854" cy="10388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7075178E-3A9D-1D94-38D5-2688360D57DA}"/>
              </a:ext>
            </a:extLst>
          </p:cNvPr>
          <p:cNvSpPr/>
          <p:nvPr/>
        </p:nvSpPr>
        <p:spPr>
          <a:xfrm>
            <a:off x="4210237" y="2694910"/>
            <a:ext cx="1837854" cy="10388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2437CBFE-9FBA-E164-8B15-36E2221EF2CB}"/>
              </a:ext>
            </a:extLst>
          </p:cNvPr>
          <p:cNvSpPr/>
          <p:nvPr/>
        </p:nvSpPr>
        <p:spPr>
          <a:xfrm>
            <a:off x="6219730" y="2694913"/>
            <a:ext cx="1837854" cy="10388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19122EBA-B478-6A68-E10C-A364BCE2F779}"/>
              </a:ext>
            </a:extLst>
          </p:cNvPr>
          <p:cNvSpPr/>
          <p:nvPr/>
        </p:nvSpPr>
        <p:spPr>
          <a:xfrm>
            <a:off x="8237143" y="2694908"/>
            <a:ext cx="1837854" cy="10388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E02A762D-7E22-A34A-A1C2-28C45D8C3968}"/>
              </a:ext>
            </a:extLst>
          </p:cNvPr>
          <p:cNvSpPr/>
          <p:nvPr/>
        </p:nvSpPr>
        <p:spPr>
          <a:xfrm>
            <a:off x="10263609" y="2694914"/>
            <a:ext cx="1837854" cy="10388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058851B-8888-C0CF-46F2-07F5FBB98DEC}"/>
              </a:ext>
            </a:extLst>
          </p:cNvPr>
          <p:cNvSpPr txBox="1"/>
          <p:nvPr/>
        </p:nvSpPr>
        <p:spPr>
          <a:xfrm>
            <a:off x="144855" y="3060461"/>
            <a:ext cx="18378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Discovery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FB900CE7-053B-D10B-1919-5B8067E95B31}"/>
              </a:ext>
            </a:extLst>
          </p:cNvPr>
          <p:cNvCxnSpPr>
            <a:stCxn id="4" idx="3"/>
            <a:endCxn id="46" idx="1"/>
          </p:cNvCxnSpPr>
          <p:nvPr/>
        </p:nvCxnSpPr>
        <p:spPr>
          <a:xfrm flipV="1">
            <a:off x="1982709" y="3214352"/>
            <a:ext cx="19483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9D607713-332C-174C-39C7-241422F6743C}"/>
              </a:ext>
            </a:extLst>
          </p:cNvPr>
          <p:cNvSpPr txBox="1"/>
          <p:nvPr/>
        </p:nvSpPr>
        <p:spPr>
          <a:xfrm>
            <a:off x="2177546" y="3057480"/>
            <a:ext cx="18378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Qualification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BCFC484-625E-74C2-9A88-75206103EE5E}"/>
              </a:ext>
            </a:extLst>
          </p:cNvPr>
          <p:cNvSpPr txBox="1"/>
          <p:nvPr/>
        </p:nvSpPr>
        <p:spPr>
          <a:xfrm>
            <a:off x="4210237" y="3057481"/>
            <a:ext cx="18378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Solution Evaluation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0087545-5E58-33B3-D867-8F7F7E89582B}"/>
              </a:ext>
            </a:extLst>
          </p:cNvPr>
          <p:cNvSpPr txBox="1"/>
          <p:nvPr/>
        </p:nvSpPr>
        <p:spPr>
          <a:xfrm>
            <a:off x="6214637" y="3057482"/>
            <a:ext cx="18378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Proposal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E32D6F3-C9C3-58AD-6348-A1941D882FF3}"/>
              </a:ext>
            </a:extLst>
          </p:cNvPr>
          <p:cNvSpPr txBox="1"/>
          <p:nvPr/>
        </p:nvSpPr>
        <p:spPr>
          <a:xfrm>
            <a:off x="8228090" y="3057483"/>
            <a:ext cx="18378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Negotiation / Legal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71F8F38-8A9D-E252-FB1A-5890C2642BC9}"/>
              </a:ext>
            </a:extLst>
          </p:cNvPr>
          <p:cNvSpPr txBox="1"/>
          <p:nvPr/>
        </p:nvSpPr>
        <p:spPr>
          <a:xfrm>
            <a:off x="10254556" y="3057484"/>
            <a:ext cx="18378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Commit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D569C924-35F5-D023-B821-F111B8ACC9CD}"/>
              </a:ext>
            </a:extLst>
          </p:cNvPr>
          <p:cNvCxnSpPr/>
          <p:nvPr/>
        </p:nvCxnSpPr>
        <p:spPr>
          <a:xfrm flipV="1">
            <a:off x="4019265" y="3208735"/>
            <a:ext cx="19483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249D593E-8A45-223A-9117-8B6BB8755320}"/>
              </a:ext>
            </a:extLst>
          </p:cNvPr>
          <p:cNvCxnSpPr>
            <a:cxnSpLocks/>
            <a:endCxn id="63" idx="1"/>
          </p:cNvCxnSpPr>
          <p:nvPr/>
        </p:nvCxnSpPr>
        <p:spPr>
          <a:xfrm>
            <a:off x="6053184" y="3208736"/>
            <a:ext cx="161453" cy="26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19C01A80-B8BE-3B83-0A9D-A5685115D553}"/>
              </a:ext>
            </a:extLst>
          </p:cNvPr>
          <p:cNvCxnSpPr/>
          <p:nvPr/>
        </p:nvCxnSpPr>
        <p:spPr>
          <a:xfrm flipV="1">
            <a:off x="8052491" y="3208735"/>
            <a:ext cx="19483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6C5EFBA9-F621-9F34-D426-3A72521BA575}"/>
              </a:ext>
            </a:extLst>
          </p:cNvPr>
          <p:cNvCxnSpPr/>
          <p:nvPr/>
        </p:nvCxnSpPr>
        <p:spPr>
          <a:xfrm flipV="1">
            <a:off x="10074997" y="3215155"/>
            <a:ext cx="19483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4F5B7657-DB73-1EEC-51A3-31D9C668DFF4}"/>
              </a:ext>
            </a:extLst>
          </p:cNvPr>
          <p:cNvSpPr txBox="1"/>
          <p:nvPr/>
        </p:nvSpPr>
        <p:spPr>
          <a:xfrm>
            <a:off x="762754" y="2321112"/>
            <a:ext cx="6020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10%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0FDE48B-7782-3BEA-440C-9D29E4C87174}"/>
              </a:ext>
            </a:extLst>
          </p:cNvPr>
          <p:cNvSpPr txBox="1"/>
          <p:nvPr/>
        </p:nvSpPr>
        <p:spPr>
          <a:xfrm>
            <a:off x="2795445" y="2326372"/>
            <a:ext cx="6020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25%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EB60F7D-F605-AB8F-6873-30A33B757EF7}"/>
              </a:ext>
            </a:extLst>
          </p:cNvPr>
          <p:cNvSpPr txBox="1"/>
          <p:nvPr/>
        </p:nvSpPr>
        <p:spPr>
          <a:xfrm>
            <a:off x="4828136" y="2323265"/>
            <a:ext cx="6020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40%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47FF818-FA3D-C8B7-7A13-2341238BFBEB}"/>
              </a:ext>
            </a:extLst>
          </p:cNvPr>
          <p:cNvSpPr txBox="1"/>
          <p:nvPr/>
        </p:nvSpPr>
        <p:spPr>
          <a:xfrm>
            <a:off x="6832536" y="2320616"/>
            <a:ext cx="6020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60%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FD1F53C-7090-4226-C16C-FA3DF9D79FF2}"/>
              </a:ext>
            </a:extLst>
          </p:cNvPr>
          <p:cNvSpPr txBox="1"/>
          <p:nvPr/>
        </p:nvSpPr>
        <p:spPr>
          <a:xfrm>
            <a:off x="8845989" y="2326164"/>
            <a:ext cx="6020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80%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EE43C01-EDD1-91E4-D01E-69F81C0464EF}"/>
              </a:ext>
            </a:extLst>
          </p:cNvPr>
          <p:cNvSpPr txBox="1"/>
          <p:nvPr/>
        </p:nvSpPr>
        <p:spPr>
          <a:xfrm>
            <a:off x="10872455" y="2320616"/>
            <a:ext cx="6020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90%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9C21DA3-DD8A-5C64-07F9-76C4BDBA73BA}"/>
              </a:ext>
            </a:extLst>
          </p:cNvPr>
          <p:cNvSpPr txBox="1"/>
          <p:nvPr/>
        </p:nvSpPr>
        <p:spPr>
          <a:xfrm>
            <a:off x="144855" y="1947314"/>
            <a:ext cx="59032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Pipeline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F8F3B85-C2A4-27DC-8C48-2EB76C5BA122}"/>
              </a:ext>
            </a:extLst>
          </p:cNvPr>
          <p:cNvSpPr txBox="1"/>
          <p:nvPr/>
        </p:nvSpPr>
        <p:spPr>
          <a:xfrm>
            <a:off x="6214637" y="1946319"/>
            <a:ext cx="38513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Best Case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546EB9B-68F9-E9E3-78E4-3A3C1EED152B}"/>
              </a:ext>
            </a:extLst>
          </p:cNvPr>
          <p:cNvSpPr txBox="1"/>
          <p:nvPr/>
        </p:nvSpPr>
        <p:spPr>
          <a:xfrm>
            <a:off x="10263609" y="1946319"/>
            <a:ext cx="18378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Commit</a:t>
            </a: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04158E6F-61D7-C998-B71B-200BFD64E4D3}"/>
              </a:ext>
            </a:extLst>
          </p:cNvPr>
          <p:cNvSpPr/>
          <p:nvPr/>
        </p:nvSpPr>
        <p:spPr>
          <a:xfrm>
            <a:off x="10263609" y="3957932"/>
            <a:ext cx="1837854" cy="10388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360AA58-C3AC-2FF1-B4A5-BDED54F9BED6}"/>
              </a:ext>
            </a:extLst>
          </p:cNvPr>
          <p:cNvSpPr txBox="1"/>
          <p:nvPr/>
        </p:nvSpPr>
        <p:spPr>
          <a:xfrm>
            <a:off x="10263609" y="4251061"/>
            <a:ext cx="18378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Closed Won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02BFF6FF-9C45-B774-494D-751D64E6E2A7}"/>
              </a:ext>
            </a:extLst>
          </p:cNvPr>
          <p:cNvSpPr txBox="1"/>
          <p:nvPr/>
        </p:nvSpPr>
        <p:spPr>
          <a:xfrm>
            <a:off x="11130100" y="3676588"/>
            <a:ext cx="6888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100%</a:t>
            </a:r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5C75733D-5090-DE20-5F28-A84199D74950}"/>
              </a:ext>
            </a:extLst>
          </p:cNvPr>
          <p:cNvCxnSpPr>
            <a:cxnSpLocks/>
            <a:stCxn id="54" idx="2"/>
            <a:endCxn id="93" idx="0"/>
          </p:cNvCxnSpPr>
          <p:nvPr/>
        </p:nvCxnSpPr>
        <p:spPr>
          <a:xfrm>
            <a:off x="11182536" y="3733799"/>
            <a:ext cx="0" cy="2241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8AC2949B-AF31-9658-73D9-DBF8D8F5F5F6}"/>
              </a:ext>
            </a:extLst>
          </p:cNvPr>
          <p:cNvSpPr/>
          <p:nvPr/>
        </p:nvSpPr>
        <p:spPr>
          <a:xfrm>
            <a:off x="8237143" y="4890135"/>
            <a:ext cx="1837854" cy="10388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519AB2EF-1EE2-5A31-C9F5-070C1ECF2682}"/>
              </a:ext>
            </a:extLst>
          </p:cNvPr>
          <p:cNvSpPr txBox="1"/>
          <p:nvPr/>
        </p:nvSpPr>
        <p:spPr>
          <a:xfrm>
            <a:off x="8248834" y="5255688"/>
            <a:ext cx="18378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Closed Lost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B51AC23-30AB-3FC0-3FF2-491A766CFB5D}"/>
              </a:ext>
            </a:extLst>
          </p:cNvPr>
          <p:cNvSpPr txBox="1"/>
          <p:nvPr/>
        </p:nvSpPr>
        <p:spPr>
          <a:xfrm>
            <a:off x="8817171" y="4587169"/>
            <a:ext cx="6888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0%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B5C4CA13-7CC8-3B0C-3041-0903E678D93C}"/>
              </a:ext>
            </a:extLst>
          </p:cNvPr>
          <p:cNvSpPr txBox="1"/>
          <p:nvPr/>
        </p:nvSpPr>
        <p:spPr>
          <a:xfrm>
            <a:off x="8140290" y="5901484"/>
            <a:ext cx="22345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May occur from any open stage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739D397E-382A-7C31-2C32-2D885DD40B1D}"/>
              </a:ext>
            </a:extLst>
          </p:cNvPr>
          <p:cNvSpPr txBox="1"/>
          <p:nvPr/>
        </p:nvSpPr>
        <p:spPr>
          <a:xfrm>
            <a:off x="8221767" y="4457804"/>
            <a:ext cx="22345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Forecast Category: Closed</a:t>
            </a:r>
          </a:p>
        </p:txBody>
      </p:sp>
    </p:spTree>
    <p:extLst>
      <p:ext uri="{BB962C8B-B14F-4D97-AF65-F5344CB8AC3E}">
        <p14:creationId xmlns:p14="http://schemas.microsoft.com/office/powerpoint/2010/main" val="3293457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097596B-F2AA-A98B-F7F5-81BC0804136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4694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/>
              <a:t>AsterPeak Software — Pipeline Hygiene &amp; Governance Controls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2F70F74-24D7-84F9-9091-6E3147F65829}"/>
              </a:ext>
            </a:extLst>
          </p:cNvPr>
          <p:cNvSpPr/>
          <p:nvPr/>
        </p:nvSpPr>
        <p:spPr>
          <a:xfrm>
            <a:off x="215775" y="1013988"/>
            <a:ext cx="5658416" cy="226336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3813B04-FBF5-8998-60BF-4F8CA7792529}"/>
              </a:ext>
            </a:extLst>
          </p:cNvPr>
          <p:cNvSpPr/>
          <p:nvPr/>
        </p:nvSpPr>
        <p:spPr>
          <a:xfrm>
            <a:off x="6317810" y="1013988"/>
            <a:ext cx="5658416" cy="226336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7108B2-CFAF-9C26-96E4-28256FF31229}"/>
              </a:ext>
            </a:extLst>
          </p:cNvPr>
          <p:cNvSpPr txBox="1"/>
          <p:nvPr/>
        </p:nvSpPr>
        <p:spPr>
          <a:xfrm>
            <a:off x="1215429" y="1013988"/>
            <a:ext cx="3659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Preventative Salesforce Controls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3FAF9D-839A-A77E-0DE2-CFB9D3D7E986}"/>
              </a:ext>
            </a:extLst>
          </p:cNvPr>
          <p:cNvSpPr txBox="1"/>
          <p:nvPr/>
        </p:nvSpPr>
        <p:spPr>
          <a:xfrm>
            <a:off x="7440440" y="1013988"/>
            <a:ext cx="34131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RevOps Pipeline Monitoring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87DD15-A52F-DDE3-E712-39CA1456598B}"/>
              </a:ext>
            </a:extLst>
          </p:cNvPr>
          <p:cNvSpPr txBox="1"/>
          <p:nvPr/>
        </p:nvSpPr>
        <p:spPr>
          <a:xfrm>
            <a:off x="505486" y="1453173"/>
            <a:ext cx="507899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Positive </a:t>
            </a:r>
            <a:r>
              <a:rPr lang="en-US" sz="1400" b="1" dirty="0">
                <a:solidFill>
                  <a:schemeClr val="bg1"/>
                </a:solidFill>
              </a:rPr>
              <a:t>Net ARR</a:t>
            </a:r>
            <a:r>
              <a:rPr lang="en-US" sz="1400" dirty="0">
                <a:solidFill>
                  <a:schemeClr val="bg1"/>
                </a:solidFill>
              </a:rPr>
              <a:t> required for open opportunities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Next Step</a:t>
            </a:r>
            <a:r>
              <a:rPr lang="en-US" sz="1400" dirty="0">
                <a:solidFill>
                  <a:schemeClr val="bg1"/>
                </a:solidFill>
              </a:rPr>
              <a:t> required for open opportunities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Lead Source</a:t>
            </a:r>
            <a:r>
              <a:rPr lang="en-US" sz="1400" dirty="0">
                <a:solidFill>
                  <a:schemeClr val="bg1"/>
                </a:solidFill>
              </a:rPr>
              <a:t> required for open opportunities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Payment Terms + Billing Schedule</a:t>
            </a:r>
            <a:r>
              <a:rPr lang="en-US" sz="1400" dirty="0">
                <a:solidFill>
                  <a:schemeClr val="bg1"/>
                </a:solidFill>
              </a:rPr>
              <a:t> required at Proposal+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Deal Desk approval required before </a:t>
            </a:r>
            <a:r>
              <a:rPr lang="en-US" sz="1400" b="1" dirty="0">
                <a:solidFill>
                  <a:schemeClr val="bg1"/>
                </a:solidFill>
              </a:rPr>
              <a:t>Commit / Closed Won</a:t>
            </a:r>
            <a:r>
              <a:rPr lang="en-US" sz="1400" dirty="0">
                <a:solidFill>
                  <a:schemeClr val="bg1"/>
                </a:solidFill>
              </a:rPr>
              <a:t> when triggered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5DCC6A6-8DF3-60A1-5F08-6E9A6D9E6F7B}"/>
              </a:ext>
            </a:extLst>
          </p:cNvPr>
          <p:cNvSpPr txBox="1"/>
          <p:nvPr/>
        </p:nvSpPr>
        <p:spPr>
          <a:xfrm>
            <a:off x="6607521" y="1453173"/>
            <a:ext cx="507899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Overdue:</a:t>
            </a:r>
            <a:r>
              <a:rPr lang="en-US" sz="1400" dirty="0">
                <a:solidFill>
                  <a:schemeClr val="bg1"/>
                </a:solidFill>
              </a:rPr>
              <a:t> Expected Close Date has passed while still open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Stale:</a:t>
            </a:r>
            <a:r>
              <a:rPr lang="en-US" sz="1400" dirty="0">
                <a:solidFill>
                  <a:schemeClr val="bg1"/>
                </a:solidFill>
              </a:rPr>
              <a:t> No activity or more than 30 days since last activity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Stale + Overdue:</a:t>
            </a:r>
            <a:r>
              <a:rPr lang="en-US" sz="1400" dirty="0">
                <a:solidFill>
                  <a:schemeClr val="bg1"/>
                </a:solidFill>
              </a:rPr>
              <a:t> Elevated review priority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Missing owner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Missing source attribution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Missing next step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Forecast category misalignment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259B7CD-B036-928F-C4B8-FAAA5F8C6014}"/>
              </a:ext>
            </a:extLst>
          </p:cNvPr>
          <p:cNvSpPr/>
          <p:nvPr/>
        </p:nvSpPr>
        <p:spPr>
          <a:xfrm>
            <a:off x="3266792" y="3951837"/>
            <a:ext cx="5658416" cy="226336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4028558-CA56-6088-1837-80D7FB4647F2}"/>
              </a:ext>
            </a:extLst>
          </p:cNvPr>
          <p:cNvSpPr txBox="1"/>
          <p:nvPr/>
        </p:nvSpPr>
        <p:spPr>
          <a:xfrm>
            <a:off x="4266446" y="4014717"/>
            <a:ext cx="3659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Governance Response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3BBC762-1C75-A3F1-DC5F-60AFF8E6C9E6}"/>
              </a:ext>
            </a:extLst>
          </p:cNvPr>
          <p:cNvSpPr txBox="1"/>
          <p:nvPr/>
        </p:nvSpPr>
        <p:spPr>
          <a:xfrm>
            <a:off x="3615350" y="4446929"/>
            <a:ext cx="4961299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Flagged opportunities are reviewed by the responsible seller and Sales Leadership.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Records should be </a:t>
            </a:r>
            <a:r>
              <a:rPr lang="en-US" sz="1400" b="1" dirty="0">
                <a:solidFill>
                  <a:schemeClr val="bg1"/>
                </a:solidFill>
              </a:rPr>
              <a:t>updated, requalified, progressed, or closed</a:t>
            </a:r>
            <a:r>
              <a:rPr lang="en-US" sz="1400" dirty="0">
                <a:solidFill>
                  <a:schemeClr val="bg1"/>
                </a:solidFill>
              </a:rPr>
              <a:t> as appropriate.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RevOps uses reporting and audits to surface exceptions that should not remain indefinitely in the active pipeline.</a:t>
            </a:r>
          </a:p>
          <a:p>
            <a:endParaRPr lang="en-US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09AECFD-E708-F6D7-B7FA-5CBFD2A555F8}"/>
              </a:ext>
            </a:extLst>
          </p:cNvPr>
          <p:cNvCxnSpPr/>
          <p:nvPr/>
        </p:nvCxnSpPr>
        <p:spPr>
          <a:xfrm>
            <a:off x="4499572" y="3277354"/>
            <a:ext cx="0" cy="6744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92932BA-9BD3-E4F0-6D45-2C936269992D}"/>
              </a:ext>
            </a:extLst>
          </p:cNvPr>
          <p:cNvCxnSpPr/>
          <p:nvPr/>
        </p:nvCxnSpPr>
        <p:spPr>
          <a:xfrm>
            <a:off x="7429877" y="3277353"/>
            <a:ext cx="0" cy="6744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69986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188</Words>
  <Application>Microsoft Office PowerPoint</Application>
  <PresentationFormat>Widescreen</PresentationFormat>
  <Paragraphs>41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AsterPeak Software — Opportunity Pipeline Governance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Tyler Medders</dc:creator>
  <cp:lastModifiedBy>Tyler Medders</cp:lastModifiedBy>
  <cp:revision>4</cp:revision>
  <dcterms:created xsi:type="dcterms:W3CDTF">2026-10-06T17:20:20Z</dcterms:created>
  <dcterms:modified xsi:type="dcterms:W3CDTF">2026-10-06T18:38:00Z</dcterms:modified>
</cp:coreProperties>
</file>