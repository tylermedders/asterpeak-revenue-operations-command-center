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BD616-4107-763C-AA55-30D006A41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565071-697C-F198-5C75-005743E8E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8C85-0503-154E-CD45-E329DDCB4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7C06-A049-40D9-A4C2-ED96230F26D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A2F15-84C6-A286-EF2B-13C9ABA02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0B1A4-DBDA-8193-DCD4-DE7D22D58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68D2A-5EE4-415F-8B93-D1A9DBD72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1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AFFC-A96F-6E1D-4ED1-C307A630F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527DF-D5E3-355A-8AED-D5084A266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42600-57C4-8873-E857-E86BE416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7C06-A049-40D9-A4C2-ED96230F26D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CBB1E-F7EA-46FE-47EA-E9CFD1196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0F44B-4698-D4AD-1976-23367D45B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68D2A-5EE4-415F-8B93-D1A9DBD72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830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56494-376C-5791-A9D8-7716327C1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91F08-FEB7-DA58-2F2F-E14F360DB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0F172-7A3A-5127-0081-64858A507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7C06-A049-40D9-A4C2-ED96230F26D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FF4BF-19C7-3591-832B-F037EAF60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1E7A0-CA29-66F0-B6E9-97132A218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68D2A-5EE4-415F-8B93-D1A9DBD72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4673-E00E-8ECC-A87A-6CD8CF259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7D7CF-915D-4FCA-60FA-2F3FBD2B8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B4D97-F883-2925-2588-8F807D4A6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EDA99-D542-42B6-8368-75D2F6AD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7C06-A049-40D9-A4C2-ED96230F26D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0C750-4D30-DE1C-EF56-C69A30EAB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695D6-957C-262C-1B17-38B6907B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68D2A-5EE4-415F-8B93-D1A9DBD72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8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59112-3267-4D5A-52C7-F7D9D9A7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9BD06-FA5C-A05B-C7E1-D81DFA819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05B17B-90D5-B418-2B2F-01AE4E7D4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F47A8A-FD28-EF04-D89C-37A148513C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ADB928-40D0-D45D-2EAE-CBA0391BCF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42B36B-0479-8DA9-71A4-E3610D8C4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7C06-A049-40D9-A4C2-ED96230F26D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C7EE12-E7C7-C151-32E2-99E3B76A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B468E-F64A-E50E-47CB-4751844FD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68D2A-5EE4-415F-8B93-D1A9DBD72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934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84608-8BBB-CF16-B34B-7A7B4A7F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11495-CC43-6011-1DC3-3BB06A4D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7C06-A049-40D9-A4C2-ED96230F26D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FAEFB-4947-1C8B-F34E-5EB8A116F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4DC37-ABD1-EC48-A302-C7D98CDB3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68D2A-5EE4-415F-8B93-D1A9DBD72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63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C24D7-25D3-39A0-D517-E629C0F9D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7C06-A049-40D9-A4C2-ED96230F26D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F7E39A-C65A-6535-1CDB-1E4E4CA25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40815-BDBD-14E7-7A13-57DF8A97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68D2A-5EE4-415F-8B93-D1A9DBD72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49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F3C9F-AE39-C77B-6AD8-20FAB3C98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0CA4F-36CE-9F74-3CF4-93378569B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865656-379F-3BCB-F6BB-D733AC5A2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3C5C9-DC0F-A544-8685-EBCEF8A9E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7C06-A049-40D9-A4C2-ED96230F26D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DC4EC-A1B6-DE88-1FC9-962D59392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E5669-8C6D-CC44-0248-54EF97670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68D2A-5EE4-415F-8B93-D1A9DBD72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34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5D06-65A4-ED59-E59E-4F4042032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E2FF5-AC54-BA4F-AD2D-1EB4EF9E80E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2B42B7-824D-836C-E264-6C00FE1EC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9B35E8-428E-5438-47E8-83F56B57B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7C06-A049-40D9-A4C2-ED96230F26D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7CFE4-05D0-2EBF-C62E-1FFAB7875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8ACD7-3C7D-1210-84AC-CD8FF21D9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68D2A-5EE4-415F-8B93-D1A9DBD72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02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0FBEC-55CB-1691-5E7C-046BFFCB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C67E3-C8FE-C97F-FF91-BE92DE885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5811-03F5-04CE-6594-A03A6FD96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7C06-A049-40D9-A4C2-ED96230F26D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B5352-8E3E-6C0B-4CFE-E5127210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1C05A-6056-7785-EB2B-B126BCA9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68D2A-5EE4-415F-8B93-D1A9DBD72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870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CF3AB-5AB1-AD34-28F6-58CF02F08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BF8D8-96D6-085E-79DB-6BF5039E1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5FACF-7E31-70B7-FADC-31003053B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7C06-A049-40D9-A4C2-ED96230F26D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55355-7038-AE93-11E3-BCB12A4FD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93F6A-2A39-67EF-A167-0EDA2D544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68D2A-5EE4-415F-8B93-D1A9DBD72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21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9B829A-5F2D-02F3-C672-7724F2C3B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B06FE-51EF-F071-D20F-404D43A37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34BD4-B0E5-5C94-AEE0-60BC67FD2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017C06-A049-40D9-A4C2-ED96230F26D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44364-E57A-E4CC-9E39-B0427C3B3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01972-7B81-DEEE-FDBF-E8A0638FB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68D2A-5EE4-415F-8B93-D1A9DBD72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05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B5F9-C9F9-306E-76C9-4E6EEDFFE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34154"/>
          </a:xfrm>
        </p:spPr>
        <p:txBody>
          <a:bodyPr>
            <a:normAutofit/>
          </a:bodyPr>
          <a:lstStyle/>
          <a:p>
            <a:r>
              <a:rPr lang="en-US" sz="2800" dirty="0"/>
              <a:t>AsterPeak Software — Lead Lifecycle &amp; Marketing-to-Sales Handoff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AD5C755-FA01-465A-D298-AE41BDAFBCB2}"/>
              </a:ext>
            </a:extLst>
          </p:cNvPr>
          <p:cNvSpPr/>
          <p:nvPr/>
        </p:nvSpPr>
        <p:spPr>
          <a:xfrm>
            <a:off x="262551" y="2507811"/>
            <a:ext cx="2136618" cy="1204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09E601-71F8-A42E-ABE1-A31F270D26F6}"/>
              </a:ext>
            </a:extLst>
          </p:cNvPr>
          <p:cNvSpPr/>
          <p:nvPr/>
        </p:nvSpPr>
        <p:spPr>
          <a:xfrm>
            <a:off x="2642480" y="2474616"/>
            <a:ext cx="2136618" cy="1204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75903B3-4503-B122-A4CA-C3435A15429D}"/>
              </a:ext>
            </a:extLst>
          </p:cNvPr>
          <p:cNvSpPr/>
          <p:nvPr/>
        </p:nvSpPr>
        <p:spPr>
          <a:xfrm>
            <a:off x="5022410" y="2507811"/>
            <a:ext cx="2136618" cy="1204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EBD87F4-C79C-DEF4-EB5F-301BB2C1830C}"/>
              </a:ext>
            </a:extLst>
          </p:cNvPr>
          <p:cNvSpPr/>
          <p:nvPr/>
        </p:nvSpPr>
        <p:spPr>
          <a:xfrm>
            <a:off x="7402339" y="2507811"/>
            <a:ext cx="2136618" cy="1204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8F5FF29-6FC2-1479-BCCC-24C8C78F9021}"/>
              </a:ext>
            </a:extLst>
          </p:cNvPr>
          <p:cNvSpPr/>
          <p:nvPr/>
        </p:nvSpPr>
        <p:spPr>
          <a:xfrm>
            <a:off x="9782268" y="2507811"/>
            <a:ext cx="2136618" cy="1204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610F01-F469-3811-7F0C-C66CB576C863}"/>
              </a:ext>
            </a:extLst>
          </p:cNvPr>
          <p:cNvSpPr txBox="1"/>
          <p:nvPr/>
        </p:nvSpPr>
        <p:spPr>
          <a:xfrm>
            <a:off x="562446" y="2892005"/>
            <a:ext cx="1493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Lead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9D5E7B-8523-8673-8C47-E93A092455A7}"/>
              </a:ext>
            </a:extLst>
          </p:cNvPr>
          <p:cNvSpPr txBox="1"/>
          <p:nvPr/>
        </p:nvSpPr>
        <p:spPr>
          <a:xfrm>
            <a:off x="2963878" y="2892005"/>
            <a:ext cx="1493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MQL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FFB669-D26A-EF60-208B-AD821665957D}"/>
              </a:ext>
            </a:extLst>
          </p:cNvPr>
          <p:cNvSpPr txBox="1"/>
          <p:nvPr/>
        </p:nvSpPr>
        <p:spPr>
          <a:xfrm>
            <a:off x="5343807" y="2892005"/>
            <a:ext cx="1493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SQL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088185-971E-85F3-A176-874F29E5E73F}"/>
              </a:ext>
            </a:extLst>
          </p:cNvPr>
          <p:cNvSpPr txBox="1"/>
          <p:nvPr/>
        </p:nvSpPr>
        <p:spPr>
          <a:xfrm>
            <a:off x="7723737" y="2892005"/>
            <a:ext cx="1493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Opportunity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ECA4E7-8D0A-8AD0-33DF-49DC6D440D66}"/>
              </a:ext>
            </a:extLst>
          </p:cNvPr>
          <p:cNvSpPr txBox="1"/>
          <p:nvPr/>
        </p:nvSpPr>
        <p:spPr>
          <a:xfrm>
            <a:off x="10103666" y="2892005"/>
            <a:ext cx="1493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Customer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32FF332-6787-1191-5B43-FE55F2F894B8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 flipV="1">
            <a:off x="2399169" y="3076671"/>
            <a:ext cx="2433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3BFFAA4-DCB1-289C-731C-6870C78D495F}"/>
              </a:ext>
            </a:extLst>
          </p:cNvPr>
          <p:cNvCxnSpPr>
            <a:cxnSpLocks/>
          </p:cNvCxnSpPr>
          <p:nvPr/>
        </p:nvCxnSpPr>
        <p:spPr>
          <a:xfrm flipV="1">
            <a:off x="4779099" y="3064601"/>
            <a:ext cx="2433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77DAE26-11A3-49FE-ACBD-A3BB2086D4CD}"/>
              </a:ext>
            </a:extLst>
          </p:cNvPr>
          <p:cNvCxnSpPr>
            <a:cxnSpLocks/>
          </p:cNvCxnSpPr>
          <p:nvPr/>
        </p:nvCxnSpPr>
        <p:spPr>
          <a:xfrm flipV="1">
            <a:off x="7159028" y="3061585"/>
            <a:ext cx="2433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B6B41E3-AAF7-DACC-4BF8-AD05B788CE77}"/>
              </a:ext>
            </a:extLst>
          </p:cNvPr>
          <p:cNvCxnSpPr>
            <a:cxnSpLocks/>
          </p:cNvCxnSpPr>
          <p:nvPr/>
        </p:nvCxnSpPr>
        <p:spPr>
          <a:xfrm flipV="1">
            <a:off x="9538957" y="3061585"/>
            <a:ext cx="2433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410BFD5-A9CD-E602-8F91-74EA6EAD91B4}"/>
              </a:ext>
            </a:extLst>
          </p:cNvPr>
          <p:cNvSpPr txBox="1"/>
          <p:nvPr/>
        </p:nvSpPr>
        <p:spPr>
          <a:xfrm>
            <a:off x="262551" y="4209861"/>
            <a:ext cx="4516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HubSpot / Marketing Operations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0F1EE9-9D22-4E9E-B0D7-6238485DE09C}"/>
              </a:ext>
            </a:extLst>
          </p:cNvPr>
          <p:cNvSpPr txBox="1"/>
          <p:nvPr/>
        </p:nvSpPr>
        <p:spPr>
          <a:xfrm>
            <a:off x="5022410" y="4209861"/>
            <a:ext cx="68964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Salesforce / Sales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9C9F449-9665-F5A0-B358-762FA9728EFF}"/>
              </a:ext>
            </a:extLst>
          </p:cNvPr>
          <p:cNvCxnSpPr>
            <a:cxnSpLocks/>
          </p:cNvCxnSpPr>
          <p:nvPr/>
        </p:nvCxnSpPr>
        <p:spPr>
          <a:xfrm flipH="1">
            <a:off x="4900752" y="4283265"/>
            <a:ext cx="1" cy="16002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A909711-105E-741B-4758-71402F061E6E}"/>
              </a:ext>
            </a:extLst>
          </p:cNvPr>
          <p:cNvSpPr txBox="1"/>
          <p:nvPr/>
        </p:nvSpPr>
        <p:spPr>
          <a:xfrm>
            <a:off x="3832443" y="5808538"/>
            <a:ext cx="21366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MQL </a:t>
            </a:r>
            <a:r>
              <a:rPr lang="en-US" sz="1400" dirty="0">
                <a:sym typeface="Wingdings" panose="05000000000000000000" pitchFamily="2" charset="2"/>
              </a:rPr>
              <a:t> Sales Handoff</a:t>
            </a:r>
          </a:p>
          <a:p>
            <a:pPr algn="ctr"/>
            <a:r>
              <a:rPr lang="en-US" sz="1400" dirty="0"/>
              <a:t>4-business-hour response SLA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23C94A-E93F-6F6E-0CB7-7F8B87513705}"/>
              </a:ext>
            </a:extLst>
          </p:cNvPr>
          <p:cNvSpPr txBox="1"/>
          <p:nvPr/>
        </p:nvSpPr>
        <p:spPr>
          <a:xfrm>
            <a:off x="3666654" y="3783303"/>
            <a:ext cx="2468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Route by Segment + Territory</a:t>
            </a:r>
          </a:p>
          <a:p>
            <a:pPr algn="ctr"/>
            <a:r>
              <a:rPr lang="en-US" sz="1400" dirty="0"/>
              <a:t>Assign SDR Owner</a:t>
            </a:r>
          </a:p>
        </p:txBody>
      </p:sp>
    </p:spTree>
    <p:extLst>
      <p:ext uri="{BB962C8B-B14F-4D97-AF65-F5344CB8AC3E}">
        <p14:creationId xmlns:p14="http://schemas.microsoft.com/office/powerpoint/2010/main" val="2382950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8B750-24DC-6CF1-822C-DF37DB295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B541F-F1D9-F169-ECEF-98F4C033C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534154"/>
          </a:xfrm>
        </p:spPr>
        <p:txBody>
          <a:bodyPr>
            <a:normAutofit/>
          </a:bodyPr>
          <a:lstStyle/>
          <a:p>
            <a:r>
              <a:rPr lang="en-US" sz="2800" dirty="0"/>
              <a:t>AsterPeak Software — MQL Qualification &amp; Sales Follow-Up Logic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A1897B-3166-2910-F837-E92736F674CA}"/>
              </a:ext>
            </a:extLst>
          </p:cNvPr>
          <p:cNvSpPr/>
          <p:nvPr/>
        </p:nvSpPr>
        <p:spPr>
          <a:xfrm>
            <a:off x="4111403" y="788615"/>
            <a:ext cx="3843575" cy="8930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5AE7B0-6A44-57E9-F743-C1BA13A0E6CC}"/>
              </a:ext>
            </a:extLst>
          </p:cNvPr>
          <p:cNvSpPr txBox="1"/>
          <p:nvPr/>
        </p:nvSpPr>
        <p:spPr>
          <a:xfrm>
            <a:off x="5277412" y="1023220"/>
            <a:ext cx="1493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Lead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20F85B44-5D37-373F-466F-99B48776E365}"/>
              </a:ext>
            </a:extLst>
          </p:cNvPr>
          <p:cNvSpPr/>
          <p:nvPr/>
        </p:nvSpPr>
        <p:spPr>
          <a:xfrm>
            <a:off x="4141581" y="1919783"/>
            <a:ext cx="3843575" cy="79578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6F4CCD-D198-B126-9F70-8D5E086A3BF4}"/>
              </a:ext>
            </a:extLst>
          </p:cNvPr>
          <p:cNvSpPr txBox="1"/>
          <p:nvPr/>
        </p:nvSpPr>
        <p:spPr>
          <a:xfrm>
            <a:off x="4111403" y="2164230"/>
            <a:ext cx="3908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Meets company fit + buying intent?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CD6BFA-B771-53D9-8E5D-DC0573324FED}"/>
              </a:ext>
            </a:extLst>
          </p:cNvPr>
          <p:cNvCxnSpPr>
            <a:cxnSpLocks/>
          </p:cNvCxnSpPr>
          <p:nvPr/>
        </p:nvCxnSpPr>
        <p:spPr>
          <a:xfrm flipH="1">
            <a:off x="6063368" y="1674896"/>
            <a:ext cx="2454" cy="244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6A0143-E2E6-9A33-63CF-37547D4C7245}"/>
              </a:ext>
            </a:extLst>
          </p:cNvPr>
          <p:cNvCxnSpPr>
            <a:cxnSpLocks/>
          </p:cNvCxnSpPr>
          <p:nvPr/>
        </p:nvCxnSpPr>
        <p:spPr>
          <a:xfrm flipH="1">
            <a:off x="3826594" y="2317675"/>
            <a:ext cx="3149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4CE8C57-7D66-3A71-4CBE-02654A97A718}"/>
              </a:ext>
            </a:extLst>
          </p:cNvPr>
          <p:cNvSpPr/>
          <p:nvPr/>
        </p:nvSpPr>
        <p:spPr>
          <a:xfrm>
            <a:off x="5027691" y="2950956"/>
            <a:ext cx="2136618" cy="438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07BC31E-9513-259D-05E0-1521DBF2E5F2}"/>
              </a:ext>
            </a:extLst>
          </p:cNvPr>
          <p:cNvCxnSpPr>
            <a:cxnSpLocks/>
          </p:cNvCxnSpPr>
          <p:nvPr/>
        </p:nvCxnSpPr>
        <p:spPr>
          <a:xfrm>
            <a:off x="6068458" y="2706518"/>
            <a:ext cx="0" cy="2440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ACD4F01-8098-415A-270E-6B2539A01BD7}"/>
              </a:ext>
            </a:extLst>
          </p:cNvPr>
          <p:cNvSpPr txBox="1"/>
          <p:nvPr/>
        </p:nvSpPr>
        <p:spPr>
          <a:xfrm>
            <a:off x="5025802" y="3001837"/>
            <a:ext cx="2136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MQL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13D0EF-0791-0D3A-AA6B-AC4A8E8FAC6B}"/>
              </a:ext>
            </a:extLst>
          </p:cNvPr>
          <p:cNvSpPr txBox="1"/>
          <p:nvPr/>
        </p:nvSpPr>
        <p:spPr>
          <a:xfrm>
            <a:off x="3705705" y="1972596"/>
            <a:ext cx="627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40976A-6F89-BB9F-D78C-12037381947B}"/>
              </a:ext>
            </a:extLst>
          </p:cNvPr>
          <p:cNvSpPr txBox="1"/>
          <p:nvPr/>
        </p:nvSpPr>
        <p:spPr>
          <a:xfrm>
            <a:off x="6030925" y="2648393"/>
            <a:ext cx="610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F65A515-C264-E6D9-2E74-F453D8821984}"/>
              </a:ext>
            </a:extLst>
          </p:cNvPr>
          <p:cNvSpPr/>
          <p:nvPr/>
        </p:nvSpPr>
        <p:spPr>
          <a:xfrm>
            <a:off x="1689976" y="1920193"/>
            <a:ext cx="2136618" cy="7957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FA0E5D-1444-AE94-2271-267B5C57AE86}"/>
              </a:ext>
            </a:extLst>
          </p:cNvPr>
          <p:cNvSpPr txBox="1"/>
          <p:nvPr/>
        </p:nvSpPr>
        <p:spPr>
          <a:xfrm>
            <a:off x="1689976" y="2163786"/>
            <a:ext cx="2136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Remain as Lead / Nurture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23E3ED5E-DA21-C474-E000-948B5F6B79DB}"/>
              </a:ext>
            </a:extLst>
          </p:cNvPr>
          <p:cNvSpPr/>
          <p:nvPr/>
        </p:nvSpPr>
        <p:spPr>
          <a:xfrm>
            <a:off x="5044098" y="3592391"/>
            <a:ext cx="2136619" cy="438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D402849-41A4-0CA3-D692-8F87BCE1615B}"/>
              </a:ext>
            </a:extLst>
          </p:cNvPr>
          <p:cNvCxnSpPr>
            <a:cxnSpLocks/>
          </p:cNvCxnSpPr>
          <p:nvPr/>
        </p:nvCxnSpPr>
        <p:spPr>
          <a:xfrm>
            <a:off x="6068456" y="3389390"/>
            <a:ext cx="0" cy="208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46987487-8145-A9FD-3697-D1F9CB32E000}"/>
              </a:ext>
            </a:extLst>
          </p:cNvPr>
          <p:cNvSpPr/>
          <p:nvPr/>
        </p:nvSpPr>
        <p:spPr>
          <a:xfrm>
            <a:off x="5027691" y="4230232"/>
            <a:ext cx="2136618" cy="438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23A3F20-8434-BEB6-FE79-FAC50C5D3AF3}"/>
              </a:ext>
            </a:extLst>
          </p:cNvPr>
          <p:cNvSpPr txBox="1"/>
          <p:nvPr/>
        </p:nvSpPr>
        <p:spPr>
          <a:xfrm>
            <a:off x="5040044" y="3583381"/>
            <a:ext cx="210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Route by Segment + Territory / Assign SDR Owner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B59FBE6-6954-1426-96AB-78EC87C728CB}"/>
              </a:ext>
            </a:extLst>
          </p:cNvPr>
          <p:cNvSpPr txBox="1"/>
          <p:nvPr/>
        </p:nvSpPr>
        <p:spPr>
          <a:xfrm>
            <a:off x="5025802" y="4191954"/>
            <a:ext cx="2100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Initial Sales Follow-Up / Within 4 Business Hours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21E8FEE-1E35-E217-A39C-34968316930A}"/>
              </a:ext>
            </a:extLst>
          </p:cNvPr>
          <p:cNvCxnSpPr>
            <a:cxnSpLocks/>
          </p:cNvCxnSpPr>
          <p:nvPr/>
        </p:nvCxnSpPr>
        <p:spPr>
          <a:xfrm>
            <a:off x="6059405" y="4022607"/>
            <a:ext cx="0" cy="208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1847296-F304-DD51-570A-E215A04E2255}"/>
              </a:ext>
            </a:extLst>
          </p:cNvPr>
          <p:cNvCxnSpPr>
            <a:cxnSpLocks/>
          </p:cNvCxnSpPr>
          <p:nvPr/>
        </p:nvCxnSpPr>
        <p:spPr>
          <a:xfrm>
            <a:off x="6069488" y="4659607"/>
            <a:ext cx="0" cy="208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Flowchart: Decision 83">
            <a:extLst>
              <a:ext uri="{FF2B5EF4-FFF2-40B4-BE49-F238E27FC236}">
                <a16:creationId xmlns:a16="http://schemas.microsoft.com/office/drawing/2014/main" id="{FD3E7D7B-BAC6-FBF0-0B9D-F6F1378A0C85}"/>
              </a:ext>
            </a:extLst>
          </p:cNvPr>
          <p:cNvSpPr/>
          <p:nvPr/>
        </p:nvSpPr>
        <p:spPr>
          <a:xfrm>
            <a:off x="4991570" y="4864068"/>
            <a:ext cx="2148500" cy="57944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721957F-1B45-8B82-84F2-395B61B9936A}"/>
              </a:ext>
            </a:extLst>
          </p:cNvPr>
          <p:cNvSpPr txBox="1"/>
          <p:nvPr/>
        </p:nvSpPr>
        <p:spPr>
          <a:xfrm>
            <a:off x="5003452" y="4979607"/>
            <a:ext cx="2136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Connected?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C2FB9DD-FBDD-13E1-332C-6EB723D8721D}"/>
              </a:ext>
            </a:extLst>
          </p:cNvPr>
          <p:cNvCxnSpPr>
            <a:cxnSpLocks/>
          </p:cNvCxnSpPr>
          <p:nvPr/>
        </p:nvCxnSpPr>
        <p:spPr>
          <a:xfrm>
            <a:off x="6067977" y="5425395"/>
            <a:ext cx="0" cy="208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01FA37F4-2539-BDA5-0A62-E0D689935DA5}"/>
              </a:ext>
            </a:extLst>
          </p:cNvPr>
          <p:cNvSpPr/>
          <p:nvPr/>
        </p:nvSpPr>
        <p:spPr>
          <a:xfrm>
            <a:off x="5025802" y="5633609"/>
            <a:ext cx="2136618" cy="438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770B223-52EC-2ED1-166A-3DE5F48BAFF3}"/>
              </a:ext>
            </a:extLst>
          </p:cNvPr>
          <p:cNvSpPr txBox="1"/>
          <p:nvPr/>
        </p:nvSpPr>
        <p:spPr>
          <a:xfrm>
            <a:off x="5015807" y="5714323"/>
            <a:ext cx="2100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Sales Qualification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459B858C-598F-6ECA-B080-AC629BE74602}"/>
              </a:ext>
            </a:extLst>
          </p:cNvPr>
          <p:cNvSpPr/>
          <p:nvPr/>
        </p:nvSpPr>
        <p:spPr>
          <a:xfrm>
            <a:off x="2495594" y="4933961"/>
            <a:ext cx="2136618" cy="438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BC703EC-8DE8-1B7E-AFF9-E429DF41D56A}"/>
              </a:ext>
            </a:extLst>
          </p:cNvPr>
          <p:cNvCxnSpPr>
            <a:cxnSpLocks/>
          </p:cNvCxnSpPr>
          <p:nvPr/>
        </p:nvCxnSpPr>
        <p:spPr>
          <a:xfrm flipH="1">
            <a:off x="4613916" y="5147090"/>
            <a:ext cx="3738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8CBC5CD5-FF84-046A-0174-32B4E193CB64}"/>
              </a:ext>
            </a:extLst>
          </p:cNvPr>
          <p:cNvSpPr txBox="1"/>
          <p:nvPr/>
        </p:nvSpPr>
        <p:spPr>
          <a:xfrm>
            <a:off x="2544068" y="4994995"/>
            <a:ext cx="2100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Active Follow-Up Sequence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7B49107-1C55-B501-F3D2-7985CA3F2D19}"/>
              </a:ext>
            </a:extLst>
          </p:cNvPr>
          <p:cNvSpPr txBox="1"/>
          <p:nvPr/>
        </p:nvSpPr>
        <p:spPr>
          <a:xfrm>
            <a:off x="4589537" y="4841596"/>
            <a:ext cx="627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2136AE8-66AA-2CE6-83E6-7736CF3EE669}"/>
              </a:ext>
            </a:extLst>
          </p:cNvPr>
          <p:cNvSpPr txBox="1"/>
          <p:nvPr/>
        </p:nvSpPr>
        <p:spPr>
          <a:xfrm>
            <a:off x="6090246" y="5320094"/>
            <a:ext cx="610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02" name="Flowchart: Decision 101">
            <a:extLst>
              <a:ext uri="{FF2B5EF4-FFF2-40B4-BE49-F238E27FC236}">
                <a16:creationId xmlns:a16="http://schemas.microsoft.com/office/drawing/2014/main" id="{DAF0664F-2593-E77E-D56D-C319E4C6D95A}"/>
              </a:ext>
            </a:extLst>
          </p:cNvPr>
          <p:cNvSpPr/>
          <p:nvPr/>
        </p:nvSpPr>
        <p:spPr>
          <a:xfrm>
            <a:off x="7421648" y="5434893"/>
            <a:ext cx="2317634" cy="795785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92FDFFA-5184-BFFA-8B55-C6F1935A84EB}"/>
              </a:ext>
            </a:extLst>
          </p:cNvPr>
          <p:cNvCxnSpPr>
            <a:cxnSpLocks/>
          </p:cNvCxnSpPr>
          <p:nvPr/>
        </p:nvCxnSpPr>
        <p:spPr>
          <a:xfrm>
            <a:off x="7162420" y="5832786"/>
            <a:ext cx="2752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ADF7E821-3415-8E11-B949-920BD0CF9D54}"/>
              </a:ext>
            </a:extLst>
          </p:cNvPr>
          <p:cNvSpPr txBox="1"/>
          <p:nvPr/>
        </p:nvSpPr>
        <p:spPr>
          <a:xfrm>
            <a:off x="7309737" y="5694684"/>
            <a:ext cx="2554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Credible Need / Fit / Potential?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796AD44A-627B-59D7-81BC-E719E49B3BCB}"/>
              </a:ext>
            </a:extLst>
          </p:cNvPr>
          <p:cNvSpPr/>
          <p:nvPr/>
        </p:nvSpPr>
        <p:spPr>
          <a:xfrm>
            <a:off x="10011883" y="5613568"/>
            <a:ext cx="1680277" cy="438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C2F98F39-FD40-6596-683A-19AD0D9CFFF8}"/>
              </a:ext>
            </a:extLst>
          </p:cNvPr>
          <p:cNvCxnSpPr>
            <a:cxnSpLocks/>
          </p:cNvCxnSpPr>
          <p:nvPr/>
        </p:nvCxnSpPr>
        <p:spPr>
          <a:xfrm>
            <a:off x="9726930" y="5832785"/>
            <a:ext cx="2952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6CFDA66B-5E8D-C56B-1C85-478BC304BF49}"/>
              </a:ext>
            </a:extLst>
          </p:cNvPr>
          <p:cNvSpPr txBox="1"/>
          <p:nvPr/>
        </p:nvSpPr>
        <p:spPr>
          <a:xfrm>
            <a:off x="9802008" y="5709674"/>
            <a:ext cx="21000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SQL / Convert in Salesforce</a:t>
            </a: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177D360D-A969-5C8F-7CE5-45B2CD072C68}"/>
              </a:ext>
            </a:extLst>
          </p:cNvPr>
          <p:cNvSpPr/>
          <p:nvPr/>
        </p:nvSpPr>
        <p:spPr>
          <a:xfrm>
            <a:off x="7747012" y="4714667"/>
            <a:ext cx="1680277" cy="438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6D0468E-D613-2FEA-6471-503A82136749}"/>
              </a:ext>
            </a:extLst>
          </p:cNvPr>
          <p:cNvCxnSpPr>
            <a:cxnSpLocks/>
          </p:cNvCxnSpPr>
          <p:nvPr/>
        </p:nvCxnSpPr>
        <p:spPr>
          <a:xfrm flipV="1">
            <a:off x="8587151" y="5147090"/>
            <a:ext cx="0" cy="2779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84E67D5E-B3D0-19AA-0BEC-2BA7C68C961E}"/>
              </a:ext>
            </a:extLst>
          </p:cNvPr>
          <p:cNvSpPr txBox="1"/>
          <p:nvPr/>
        </p:nvSpPr>
        <p:spPr>
          <a:xfrm>
            <a:off x="9516970" y="5491605"/>
            <a:ext cx="610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EFB7AB6-6E65-2C2C-908E-3A39B82E7549}"/>
              </a:ext>
            </a:extLst>
          </p:cNvPr>
          <p:cNvSpPr txBox="1"/>
          <p:nvPr/>
        </p:nvSpPr>
        <p:spPr>
          <a:xfrm>
            <a:off x="8064647" y="5133494"/>
            <a:ext cx="627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F9FE26A-00E7-981D-5DC5-B7A56F96CEF7}"/>
              </a:ext>
            </a:extLst>
          </p:cNvPr>
          <p:cNvSpPr txBox="1"/>
          <p:nvPr/>
        </p:nvSpPr>
        <p:spPr>
          <a:xfrm>
            <a:off x="7547906" y="4795384"/>
            <a:ext cx="2100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Nurture / Disqualify</a:t>
            </a:r>
          </a:p>
        </p:txBody>
      </p:sp>
      <p:cxnSp>
        <p:nvCxnSpPr>
          <p:cNvPr id="127" name="Connector: Curved 126">
            <a:extLst>
              <a:ext uri="{FF2B5EF4-FFF2-40B4-BE49-F238E27FC236}">
                <a16:creationId xmlns:a16="http://schemas.microsoft.com/office/drawing/2014/main" id="{B8CA4868-81B4-E3CC-865E-273C6FF04DF4}"/>
              </a:ext>
            </a:extLst>
          </p:cNvPr>
          <p:cNvCxnSpPr>
            <a:cxnSpLocks/>
            <a:stCxn id="91" idx="1"/>
            <a:endCxn id="86" idx="0"/>
          </p:cNvCxnSpPr>
          <p:nvPr/>
        </p:nvCxnSpPr>
        <p:spPr>
          <a:xfrm rot="10800000" flipH="1">
            <a:off x="2495593" y="4979608"/>
            <a:ext cx="3576167" cy="173571"/>
          </a:xfrm>
          <a:prstGeom prst="curvedConnector4">
            <a:avLst>
              <a:gd name="adj1" fmla="val -6392"/>
              <a:gd name="adj2" fmla="val 25800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481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103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AsterPeak Software — Lead Lifecycle &amp; Marketing-to-Sales Handoff</vt:lpstr>
      <vt:lpstr>AsterPeak Software — MQL Qualification &amp; Sales Follow-Up Logic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Medders</dc:creator>
  <cp:lastModifiedBy>Tyler Medders</cp:lastModifiedBy>
  <cp:revision>6</cp:revision>
  <dcterms:created xsi:type="dcterms:W3CDTF">2026-10-05T21:50:04Z</dcterms:created>
  <dcterms:modified xsi:type="dcterms:W3CDTF">2026-10-07T22:46:09Z</dcterms:modified>
</cp:coreProperties>
</file>