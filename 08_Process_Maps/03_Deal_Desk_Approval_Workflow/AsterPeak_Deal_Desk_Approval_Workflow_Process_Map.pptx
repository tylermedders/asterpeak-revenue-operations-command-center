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92B8-2C3E-C6A3-96B8-4A229C2BE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4815F-A354-D41E-2E6D-54C9DE6AA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90814-0977-B862-0AA0-0D58788C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08A-A3AF-28FA-8087-D8FF81E8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DEC49-A69C-03EA-D57B-20670FAD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3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C97D-8538-B9FE-9412-A3922751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F52A-F733-1C41-19A2-18600EA6C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AC90-416D-2DF0-AAF9-7407E511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6918-A6E8-2EE5-801C-83A39C8B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6D9EB-E766-FB8C-2CAA-0F2A6004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72763-CE3F-EEFD-6FB2-A568C38A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EABF2-E339-8785-70E6-AC4A83019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D1AA4-9B59-E274-987E-0C0E3BB9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48FF7-AAE5-39E2-5045-D6500CA1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4641D-1602-98DC-5F87-D26F6023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0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3988A-9955-1B9E-C586-F4D5D934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A0A66-2E08-CA40-A50A-4444A2498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CD6B0-A19C-ED18-F4C5-5B370B526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00112-72AB-8D0A-531C-E2B5C9C1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8EB49-9B27-99DF-8967-887BE776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BBF37-F307-3A30-4772-49376383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C837-DBC5-6CDE-14DC-593C3D70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FB9FD-1933-8123-F39D-E5588B1A0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11803-7C0D-8C76-DC5C-B18FD4E72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36927-90BA-D197-02AE-A10D864F9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A3F82-BD11-EA74-8F6B-F51AFF0E8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509F9-CDC4-C3D9-063E-11EC753C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16F4B-E64A-1394-34F6-92EE0BBE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A160F-74A3-103D-8705-848E165CB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8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96B1-ABD4-A6FF-2980-00E07334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C45F4A-F4A3-8722-B0CE-18253586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9FCF8-FE12-46C2-27FA-0EA62B9C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C6C35-5D38-4B47-22B5-C749006B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4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A35C2-C510-89F1-BAAB-12B3F3C3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71018-EDF9-605A-03EA-92450498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5D81D-AB9D-0A7F-C080-A86B01FD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1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BCFD-39F8-ECD7-92FA-441ADAB1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D2FC-E207-B60D-7BB0-499428FD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28A58-64E8-ABE2-33D7-FF1A85B7B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695AB-2D98-FEAE-75F0-01FE6E8F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15139-33FF-A8CA-5102-8129BAA8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C2A51-CE19-BE2D-DA6F-1F8F26AD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4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8A7C-E502-F68F-F11D-46B8B8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B4F86-5E04-C96C-C611-C5879A8F8F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5754C-238B-B1C4-673D-6D8AF4E1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2D4D6-13B6-D901-D453-B05E649AA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0F4DD-062D-279B-BBE0-4820EE3D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10597-AAC1-7FFF-EEB3-1F4CF0F9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5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42F0-AD60-6AC1-0F7D-99763167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4BDF3-EE66-D649-D065-9BA901563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96FC6-BF50-C5DF-D490-E719298F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60A6-8552-74DE-6FFA-434A52BD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C1449-01FA-772C-213C-A49AF3CD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8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3E98F-7EC4-A146-92CA-52F3F5490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1C073-845B-041B-6370-C8726E8B3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4D78-D31D-F8F4-9FD5-7F4B77D1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B8F65-8AF6-5509-4A3D-61D95CA7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7F9B1-CB9F-5551-3B2D-862C49177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1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94F77-A7DC-9BC6-8881-C00E3AE6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CE761-CEAA-56C5-9724-CBD46EFAD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D4EC4-939C-80DB-26C7-BF802DB44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BB308-2A16-4627-98F0-E3840FBE19F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334D-9DA7-EF07-E642-1D0853054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87EE-D98A-73BA-E867-A0511186D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E4D2E-BE5D-4BE2-B84E-7A5DFBC94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9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77BDE1-5A44-B7B6-80FB-0FE4EA0A9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69491"/>
          </a:xfrm>
        </p:spPr>
        <p:txBody>
          <a:bodyPr>
            <a:noAutofit/>
          </a:bodyPr>
          <a:lstStyle/>
          <a:p>
            <a:r>
              <a:rPr lang="en-US" sz="2800" dirty="0"/>
              <a:t>AsterPeak Software — Deal Desk Workflow: Trigger &amp; Intake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6C5527-4ABF-8C67-2CFF-FE24A1A2C9F2}"/>
              </a:ext>
            </a:extLst>
          </p:cNvPr>
          <p:cNvSpPr/>
          <p:nvPr/>
        </p:nvSpPr>
        <p:spPr>
          <a:xfrm>
            <a:off x="217282" y="851026"/>
            <a:ext cx="3331676" cy="1982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1FA031D0-4D68-5092-BE6F-EA5395562776}"/>
              </a:ext>
            </a:extLst>
          </p:cNvPr>
          <p:cNvSpPr/>
          <p:nvPr/>
        </p:nvSpPr>
        <p:spPr>
          <a:xfrm>
            <a:off x="3873373" y="934769"/>
            <a:ext cx="4445253" cy="18152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E987AE-5E4A-0B66-D1AE-2CEB1C132477}"/>
              </a:ext>
            </a:extLst>
          </p:cNvPr>
          <p:cNvSpPr/>
          <p:nvPr/>
        </p:nvSpPr>
        <p:spPr>
          <a:xfrm>
            <a:off x="8633988" y="851026"/>
            <a:ext cx="3331676" cy="1982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B36C9-956F-D1B0-2D4D-9081F1E70969}"/>
              </a:ext>
            </a:extLst>
          </p:cNvPr>
          <p:cNvSpPr txBox="1"/>
          <p:nvPr/>
        </p:nvSpPr>
        <p:spPr>
          <a:xfrm>
            <a:off x="765017" y="1657714"/>
            <a:ext cx="2236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Proposed Deal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E0D518-77D9-A98B-9ABA-C40D056522BB}"/>
              </a:ext>
            </a:extLst>
          </p:cNvPr>
          <p:cNvCxnSpPr>
            <a:stCxn id="6" idx="3"/>
          </p:cNvCxnSpPr>
          <p:nvPr/>
        </p:nvCxnSpPr>
        <p:spPr>
          <a:xfrm flipV="1">
            <a:off x="3548958" y="1842380"/>
            <a:ext cx="3244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5FC7D6-5143-56E6-6F1C-AF3E87FB1561}"/>
              </a:ext>
            </a:extLst>
          </p:cNvPr>
          <p:cNvSpPr txBox="1"/>
          <p:nvPr/>
        </p:nvSpPr>
        <p:spPr>
          <a:xfrm>
            <a:off x="4345663" y="1657713"/>
            <a:ext cx="3494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Deal Desk Review Required?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2CB535-5B48-3214-773B-61A42A7F9E88}"/>
              </a:ext>
            </a:extLst>
          </p:cNvPr>
          <p:cNvCxnSpPr/>
          <p:nvPr/>
        </p:nvCxnSpPr>
        <p:spPr>
          <a:xfrm flipV="1">
            <a:off x="8312591" y="1842379"/>
            <a:ext cx="3244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D4806D-3181-C33D-9BB5-1D5A7C12C7F2}"/>
              </a:ext>
            </a:extLst>
          </p:cNvPr>
          <p:cNvSpPr txBox="1"/>
          <p:nvPr/>
        </p:nvSpPr>
        <p:spPr>
          <a:xfrm>
            <a:off x="8790916" y="1657713"/>
            <a:ext cx="3032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Standard Commercial Path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B31976-BC99-69EB-0717-CF1D7D23E807}"/>
              </a:ext>
            </a:extLst>
          </p:cNvPr>
          <p:cNvSpPr txBox="1"/>
          <p:nvPr/>
        </p:nvSpPr>
        <p:spPr>
          <a:xfrm>
            <a:off x="9303943" y="2802954"/>
            <a:ext cx="2006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Continue Sales Process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A7756E-CD06-68C0-FD53-6822B51E70CE}"/>
              </a:ext>
            </a:extLst>
          </p:cNvPr>
          <p:cNvSpPr txBox="1"/>
          <p:nvPr/>
        </p:nvSpPr>
        <p:spPr>
          <a:xfrm>
            <a:off x="8203195" y="1551823"/>
            <a:ext cx="538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97F02B-E6A3-1F81-6D71-F6B00FF645EE}"/>
              </a:ext>
            </a:extLst>
          </p:cNvPr>
          <p:cNvSpPr/>
          <p:nvPr/>
        </p:nvSpPr>
        <p:spPr>
          <a:xfrm>
            <a:off x="4835304" y="3044230"/>
            <a:ext cx="2521391" cy="1654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A5E554-FB4D-389B-D7BD-6DC1DA13DA02}"/>
              </a:ext>
            </a:extLst>
          </p:cNvPr>
          <p:cNvCxnSpPr>
            <a:cxnSpLocks/>
          </p:cNvCxnSpPr>
          <p:nvPr/>
        </p:nvCxnSpPr>
        <p:spPr>
          <a:xfrm>
            <a:off x="6092982" y="2749991"/>
            <a:ext cx="0" cy="294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4579BD2-C4FD-DF03-2170-2FF066132653}"/>
              </a:ext>
            </a:extLst>
          </p:cNvPr>
          <p:cNvSpPr/>
          <p:nvPr/>
        </p:nvSpPr>
        <p:spPr>
          <a:xfrm>
            <a:off x="4835304" y="4992989"/>
            <a:ext cx="2521391" cy="1654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6270E7-7B10-76D6-11EF-7B3899E0B03B}"/>
              </a:ext>
            </a:extLst>
          </p:cNvPr>
          <p:cNvCxnSpPr>
            <a:cxnSpLocks/>
          </p:cNvCxnSpPr>
          <p:nvPr/>
        </p:nvCxnSpPr>
        <p:spPr>
          <a:xfrm>
            <a:off x="6120142" y="4698750"/>
            <a:ext cx="0" cy="294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F9B118A-C0AC-621F-9475-DDE42EE2FC2A}"/>
              </a:ext>
            </a:extLst>
          </p:cNvPr>
          <p:cNvSpPr txBox="1"/>
          <p:nvPr/>
        </p:nvSpPr>
        <p:spPr>
          <a:xfrm>
            <a:off x="6070349" y="2674897"/>
            <a:ext cx="58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EF7CBF-C836-B888-0A1A-5B406E999ACC}"/>
              </a:ext>
            </a:extLst>
          </p:cNvPr>
          <p:cNvSpPr txBox="1"/>
          <p:nvPr/>
        </p:nvSpPr>
        <p:spPr>
          <a:xfrm>
            <a:off x="4576527" y="3650787"/>
            <a:ext cx="30329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AE Submits Deal Desk Request</a:t>
            </a:r>
          </a:p>
          <a:p>
            <a:pPr algn="ctr"/>
            <a:r>
              <a:rPr lang="en-US" sz="1200" i="1" dirty="0"/>
              <a:t>Terms + Justification + Exceptions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209146-57D3-3EF9-DCF2-A2709674BE17}"/>
              </a:ext>
            </a:extLst>
          </p:cNvPr>
          <p:cNvSpPr txBox="1"/>
          <p:nvPr/>
        </p:nvSpPr>
        <p:spPr>
          <a:xfrm>
            <a:off x="4832286" y="5519582"/>
            <a:ext cx="252139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RevOps Validates Submission</a:t>
            </a:r>
          </a:p>
          <a:p>
            <a:pPr algn="ctr"/>
            <a:r>
              <a:rPr lang="en-US" sz="1050" i="1" dirty="0"/>
              <a:t>Pricing + CRM Data + Deal Desk Triggers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BA48D45-ED4D-EEDF-3FC3-10CE53B16B42}"/>
              </a:ext>
            </a:extLst>
          </p:cNvPr>
          <p:cNvSpPr/>
          <p:nvPr/>
        </p:nvSpPr>
        <p:spPr>
          <a:xfrm>
            <a:off x="7609436" y="4927001"/>
            <a:ext cx="2521391" cy="1654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2159DB-EED3-D659-862D-3EC3A0FEE1EC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53678" y="5743699"/>
            <a:ext cx="255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5CC78A1-8F34-594F-04BD-A5FA4D859686}"/>
              </a:ext>
            </a:extLst>
          </p:cNvPr>
          <p:cNvSpPr txBox="1"/>
          <p:nvPr/>
        </p:nvSpPr>
        <p:spPr>
          <a:xfrm>
            <a:off x="7609435" y="5519581"/>
            <a:ext cx="2521392" cy="453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Route to Required Approver(s)</a:t>
            </a:r>
          </a:p>
          <a:p>
            <a:pPr algn="ctr"/>
            <a:r>
              <a:rPr lang="en-US" sz="950" i="1" dirty="0"/>
              <a:t>Sales Leadership / RevOps / Finance / Legal</a:t>
            </a:r>
          </a:p>
        </p:txBody>
      </p:sp>
    </p:spTree>
    <p:extLst>
      <p:ext uri="{BB962C8B-B14F-4D97-AF65-F5344CB8AC3E}">
        <p14:creationId xmlns:p14="http://schemas.microsoft.com/office/powerpoint/2010/main" val="317586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8E5E-108D-CA19-AA68-1F6F9AE8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2B16FB-8A40-4206-F09F-A047C7EAF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69491"/>
          </a:xfrm>
        </p:spPr>
        <p:txBody>
          <a:bodyPr>
            <a:noAutofit/>
          </a:bodyPr>
          <a:lstStyle/>
          <a:p>
            <a:r>
              <a:rPr lang="en-US" sz="2800" dirty="0"/>
              <a:t>AsterPeak Software — Deal Desk Approval Routing &amp; Salesforce Gate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6CC8D7F-0D64-C88F-1144-9727A951091B}"/>
              </a:ext>
            </a:extLst>
          </p:cNvPr>
          <p:cNvSpPr/>
          <p:nvPr/>
        </p:nvSpPr>
        <p:spPr>
          <a:xfrm>
            <a:off x="4835304" y="726193"/>
            <a:ext cx="2521391" cy="1654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7846DA-F481-10AF-C12B-B94FAE488E37}"/>
              </a:ext>
            </a:extLst>
          </p:cNvPr>
          <p:cNvSpPr txBox="1"/>
          <p:nvPr/>
        </p:nvSpPr>
        <p:spPr>
          <a:xfrm>
            <a:off x="4835304" y="1326468"/>
            <a:ext cx="2521392" cy="453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Route to Required Approver(s)</a:t>
            </a:r>
          </a:p>
          <a:p>
            <a:pPr algn="ctr"/>
            <a:r>
              <a:rPr lang="en-US" sz="950" i="1" dirty="0"/>
              <a:t>Sales Leadership / RevOps / Finance / Legal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D1D559-CCC2-019B-511F-922A7688F0CB}"/>
              </a:ext>
            </a:extLst>
          </p:cNvPr>
          <p:cNvSpPr/>
          <p:nvPr/>
        </p:nvSpPr>
        <p:spPr>
          <a:xfrm>
            <a:off x="126748" y="726193"/>
            <a:ext cx="3395049" cy="18902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0C7B7-228C-B1EC-69BD-0A4E356177EE}"/>
              </a:ext>
            </a:extLst>
          </p:cNvPr>
          <p:cNvSpPr txBox="1"/>
          <p:nvPr/>
        </p:nvSpPr>
        <p:spPr>
          <a:xfrm>
            <a:off x="334977" y="715047"/>
            <a:ext cx="2978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Discount Approval Thresholds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FE5B74-97D8-9CDE-A394-7711065D18B8}"/>
              </a:ext>
            </a:extLst>
          </p:cNvPr>
          <p:cNvSpPr txBox="1"/>
          <p:nvPr/>
        </p:nvSpPr>
        <p:spPr>
          <a:xfrm>
            <a:off x="248969" y="995716"/>
            <a:ext cx="315060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0–10%</a:t>
            </a:r>
            <a:r>
              <a:rPr lang="en-US" sz="1400" dirty="0"/>
              <a:t> → AE discretion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&gt;10–20%</a:t>
            </a:r>
            <a:r>
              <a:rPr lang="en-US" sz="1400" dirty="0"/>
              <a:t> → Sales Manager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&gt;20–25%</a:t>
            </a:r>
            <a:r>
              <a:rPr lang="en-US" sz="1400" dirty="0"/>
              <a:t> → Director of Sales + RevOps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&gt;25%</a:t>
            </a:r>
            <a:r>
              <a:rPr lang="en-US" sz="1400" dirty="0"/>
              <a:t> → VP Revenue + Finance</a:t>
            </a:r>
          </a:p>
          <a:p>
            <a:pPr lvl="0"/>
            <a:r>
              <a:rPr lang="en-US" sz="1400" dirty="0"/>
              <a:t>&gt;30% = documented justification &gt;35% = executive exception</a:t>
            </a:r>
          </a:p>
          <a:p>
            <a:endParaRPr lang="en-US" dirty="0"/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E7A21326-AF84-F372-4177-EE081BD32E40}"/>
              </a:ext>
            </a:extLst>
          </p:cNvPr>
          <p:cNvSpPr/>
          <p:nvPr/>
        </p:nvSpPr>
        <p:spPr>
          <a:xfrm>
            <a:off x="4665551" y="3008008"/>
            <a:ext cx="2860895" cy="154814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41453F-3E28-0318-6535-A3C166383785}"/>
              </a:ext>
            </a:extLst>
          </p:cNvPr>
          <p:cNvCxnSpPr>
            <a:stCxn id="41" idx="2"/>
            <a:endCxn id="17" idx="0"/>
          </p:cNvCxnSpPr>
          <p:nvPr/>
        </p:nvCxnSpPr>
        <p:spPr>
          <a:xfrm flipH="1">
            <a:off x="6095999" y="2380713"/>
            <a:ext cx="1" cy="627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BA1DF9B-71A7-7057-9434-72AF5D137BD7}"/>
              </a:ext>
            </a:extLst>
          </p:cNvPr>
          <p:cNvSpPr txBox="1"/>
          <p:nvPr/>
        </p:nvSpPr>
        <p:spPr>
          <a:xfrm>
            <a:off x="4835304" y="3628190"/>
            <a:ext cx="2521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Approved?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3C3784-93C5-E31B-1558-BCBC8BB6A0D3}"/>
              </a:ext>
            </a:extLst>
          </p:cNvPr>
          <p:cNvSpPr/>
          <p:nvPr/>
        </p:nvSpPr>
        <p:spPr>
          <a:xfrm>
            <a:off x="1824272" y="2954819"/>
            <a:ext cx="2521391" cy="1654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17A72A-AB82-854B-E141-A291E781FFCA}"/>
              </a:ext>
            </a:extLst>
          </p:cNvPr>
          <p:cNvCxnSpPr>
            <a:stCxn id="17" idx="1"/>
            <a:endCxn id="30" idx="3"/>
          </p:cNvCxnSpPr>
          <p:nvPr/>
        </p:nvCxnSpPr>
        <p:spPr>
          <a:xfrm flipH="1" flipV="1">
            <a:off x="4345663" y="3782079"/>
            <a:ext cx="3198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015F379-5A6D-3CEE-255B-45F2D9F08540}"/>
              </a:ext>
            </a:extLst>
          </p:cNvPr>
          <p:cNvSpPr txBox="1"/>
          <p:nvPr/>
        </p:nvSpPr>
        <p:spPr>
          <a:xfrm>
            <a:off x="1824272" y="3628189"/>
            <a:ext cx="25213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Rejected / Revise Terms</a:t>
            </a:r>
          </a:p>
          <a:p>
            <a:pPr algn="ctr"/>
            <a:r>
              <a:rPr lang="en-US" sz="1200" i="1" dirty="0"/>
              <a:t>Seller updates terms and resubmits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91BF49-BFB4-66E9-3137-E4D84016B699}"/>
              </a:ext>
            </a:extLst>
          </p:cNvPr>
          <p:cNvSpPr txBox="1"/>
          <p:nvPr/>
        </p:nvSpPr>
        <p:spPr>
          <a:xfrm>
            <a:off x="4301150" y="3434666"/>
            <a:ext cx="534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FE8AE3CA-A0D1-6346-DB5E-900EF278C1A8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3232086" y="1553453"/>
            <a:ext cx="1603218" cy="13925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DEAE5A1-84AF-1836-054A-9C8EAF11065D}"/>
              </a:ext>
            </a:extLst>
          </p:cNvPr>
          <p:cNvSpPr/>
          <p:nvPr/>
        </p:nvSpPr>
        <p:spPr>
          <a:xfrm>
            <a:off x="7846333" y="2954819"/>
            <a:ext cx="2521391" cy="1654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F63F33-FFC0-F874-52BB-1438BF92AF6E}"/>
              </a:ext>
            </a:extLst>
          </p:cNvPr>
          <p:cNvCxnSpPr>
            <a:cxnSpLocks/>
          </p:cNvCxnSpPr>
          <p:nvPr/>
        </p:nvCxnSpPr>
        <p:spPr>
          <a:xfrm flipV="1">
            <a:off x="7526445" y="3782078"/>
            <a:ext cx="3198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CEEAEB8-F5B2-960A-9C09-E184D780674B}"/>
              </a:ext>
            </a:extLst>
          </p:cNvPr>
          <p:cNvSpPr txBox="1"/>
          <p:nvPr/>
        </p:nvSpPr>
        <p:spPr>
          <a:xfrm>
            <a:off x="7356695" y="3443523"/>
            <a:ext cx="58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17834F-6832-5929-2F64-3FBAF01B6071}"/>
              </a:ext>
            </a:extLst>
          </p:cNvPr>
          <p:cNvSpPr txBox="1"/>
          <p:nvPr/>
        </p:nvSpPr>
        <p:spPr>
          <a:xfrm>
            <a:off x="7894996" y="3628189"/>
            <a:ext cx="2521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Approval Status = Approved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CA0A95-A277-26F3-C500-A009DADDCB12}"/>
              </a:ext>
            </a:extLst>
          </p:cNvPr>
          <p:cNvSpPr txBox="1"/>
          <p:nvPr/>
        </p:nvSpPr>
        <p:spPr>
          <a:xfrm>
            <a:off x="0" y="63453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Salesforce Gate:</a:t>
            </a:r>
            <a:r>
              <a:rPr lang="en-US" dirty="0"/>
              <a:t> If Deal Desk Required = True, Commit and Closed Won are blocked until Approval Status = Approved.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BE3CEA4-A1BE-C664-5E08-B52DC73BDBFF}"/>
              </a:ext>
            </a:extLst>
          </p:cNvPr>
          <p:cNvSpPr/>
          <p:nvPr/>
        </p:nvSpPr>
        <p:spPr>
          <a:xfrm>
            <a:off x="8076629" y="4927355"/>
            <a:ext cx="2158125" cy="12627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2E821B-E4A4-34F2-355F-681417518D8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995750" y="4767410"/>
            <a:ext cx="3198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743A09F-5848-4C82-6F04-40A4BB1F7A15}"/>
              </a:ext>
            </a:extLst>
          </p:cNvPr>
          <p:cNvSpPr txBox="1"/>
          <p:nvPr/>
        </p:nvSpPr>
        <p:spPr>
          <a:xfrm>
            <a:off x="8040980" y="5430206"/>
            <a:ext cx="2375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Commit / Closed Won Allowed</a:t>
            </a:r>
          </a:p>
        </p:txBody>
      </p:sp>
    </p:spTree>
    <p:extLst>
      <p:ext uri="{BB962C8B-B14F-4D97-AF65-F5344CB8AC3E}">
        <p14:creationId xmlns:p14="http://schemas.microsoft.com/office/powerpoint/2010/main" val="322389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173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AsterPeak Software — Deal Desk Workflow: Trigger &amp; Intake</vt:lpstr>
      <vt:lpstr>AsterPeak Software — Deal Desk Approval Routing &amp; Salesforce Gate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Medders</dc:creator>
  <cp:lastModifiedBy>Tyler Medders</cp:lastModifiedBy>
  <cp:revision>6</cp:revision>
  <dcterms:created xsi:type="dcterms:W3CDTF">2026-10-06T18:51:47Z</dcterms:created>
  <dcterms:modified xsi:type="dcterms:W3CDTF">2026-10-07T22:53:27Z</dcterms:modified>
</cp:coreProperties>
</file>