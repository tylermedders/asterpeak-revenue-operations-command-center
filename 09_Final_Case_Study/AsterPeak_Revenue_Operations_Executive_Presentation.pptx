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4C7F3-F892-4D19-B526-2D73CF6947C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5C5A1-4A11-4FE4-BBF9-A4E4FC697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7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55C5A1-4A11-4FE4-BBF9-A4E4FC6979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6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DE4A-D23F-CBC9-4A49-9773DE067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14229-2176-7C98-BAE3-C99C6CF1B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4A2E5-88FF-857F-D635-9191B153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BBDE4-3EDD-6321-32B4-C193C1F5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09AF7-56FF-6F77-DBAB-6AD44DDA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3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EC75-6E0A-647A-52A4-36841323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A5BC-2990-135A-685D-438110C70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765E3-8DFA-6DBA-E0A7-152947E5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C267-661F-E945-785E-F11249E7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152AD-5903-1626-70F8-749EB51D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7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BC5E-5C13-A664-003D-B0124A6F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888FE-3124-E0A3-5C5E-27A7AC87E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ABFDE-891F-0005-56B4-9F796918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726AD-0725-99C4-9E3D-02A84C0C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87A2F-5218-6FCC-AE68-A60E8262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8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9A4B-2610-6DF7-1804-8B50472F1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5B66C-CE21-498C-C426-72DD4FCF2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65B27-AAD7-6AA8-529B-6ADCA3B84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5C8DB-C724-4067-F04A-D0616CE1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569FB-64B1-6439-0032-D5578BBA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71834-23D8-ED8F-69D4-AE43B9EE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3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213B-C775-F6F6-4A80-5674DA55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719EB-458A-DB19-A02A-634990127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C8168-16B5-E263-A082-6B342383A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CA4B0-3A5D-705C-EF67-4B909DA13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FCC6D-6E80-5B69-24B3-AB3D7E2CB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C0756-5C5B-F516-A0AF-AE38882F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9F03B-AE69-E065-094E-1E9490DC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D389A-5618-5C1A-2A31-D4BDA23D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3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F748-6639-3584-1133-6DFD4D82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D92FB-1990-7ECD-C8BF-767CEE99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82F77-0767-DA85-B807-BDBEA4E35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855EC-2D2C-2D3F-F4F4-C7202DC8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0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CFA45-1F6F-1415-69A9-2BE4A92C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2BC103-BD7F-BCD7-997F-F1DC0943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D2894-B0BF-4C53-7DF8-D2F1B45C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1FC2B-2989-869E-17A2-EC605135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9107A-DDD4-8202-9992-C735B2FCE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F3E7F-CEE8-AB43-1E89-A9D33B583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BC1F0-0EC0-8B14-F48E-0D971E1B1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805B4-FF64-C415-250C-8919C8CB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8C9B5-3792-C765-4713-67286E69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5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CE1A-B740-1C6F-41DE-6D6294BA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97C3F-BC53-BD97-F316-E2CC226D2D2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6DD6A-4FDC-7DF1-4BA3-0079D2283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CA954-2FB8-9D91-E9F1-714585BF3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CAA4C-E2DC-8723-E10F-A56C5E4C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E0135-1298-17DD-520F-19DBEE89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6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9643-0AC3-D127-B9FC-2A2A5611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11AB8-1EA8-28D4-FE7E-87CF1E48E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4F8FA-26D4-7FBF-6BAC-ED4D298E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950D3-FC22-A0E1-C598-46DF8C74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5B8D6-905B-CFF0-32B0-6DF96CA3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2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83F920-D654-C807-69F3-677A17630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0073C-2C9D-F468-323D-013C96C9A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D7AA5-0EF9-8ACC-DCF6-948AA3C74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4C70E-151B-3C6A-6337-21AD0301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62E25-A75B-4FA7-4C36-6B46105E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5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10CA1-F5FA-8F43-122D-4C8E31A1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817C9-F7FB-5DBE-4FC8-AF6E1BD97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97435-CDA9-33AE-78DD-DEFC24922A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527CD-DFB9-4E17-8525-9C87EEFF5E2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0C91-8220-5A69-3B1E-DA2A45C22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5E101-B5F6-CE71-80E3-13A48A9AD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E42DE-77ED-40D0-A16E-5C5595550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6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845F-9602-77F8-748A-B08DF0ABF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69545"/>
          </a:xfrm>
        </p:spPr>
        <p:txBody>
          <a:bodyPr>
            <a:normAutofit/>
          </a:bodyPr>
          <a:lstStyle/>
          <a:p>
            <a:r>
              <a:rPr lang="en-US" sz="4400" dirty="0"/>
              <a:t>AsterPeak Revenue Operations Command Center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13D95-A6EB-C646-849B-9AA016BF2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69545"/>
            <a:ext cx="12192000" cy="769545"/>
          </a:xfrm>
        </p:spPr>
        <p:txBody>
          <a:bodyPr/>
          <a:lstStyle/>
          <a:p>
            <a:r>
              <a:rPr lang="en-US" dirty="0"/>
              <a:t>End-to-end Revenue Operations case study spanning SQL, Excel, Power BI, Salesforce governance, process design, and executive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78878-A872-0629-D94E-48F059A34279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/>
              <a:t>Synthetic B2B SaaS CRM dataset | 13,864 records |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68291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712A-D017-BC3D-8B78-C47EABD0A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Business Context &amp; RevOps Challenges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DCB229-9ED3-7DBC-F01A-201A5115E97B}"/>
              </a:ext>
            </a:extLst>
          </p:cNvPr>
          <p:cNvSpPr/>
          <p:nvPr/>
        </p:nvSpPr>
        <p:spPr>
          <a:xfrm>
            <a:off x="253496" y="1180855"/>
            <a:ext cx="5842503" cy="4884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0BFB9-E3C3-A7BB-00E1-E232A1EB7EB6}"/>
              </a:ext>
            </a:extLst>
          </p:cNvPr>
          <p:cNvSpPr txBox="1"/>
          <p:nvPr/>
        </p:nvSpPr>
        <p:spPr>
          <a:xfrm>
            <a:off x="669957" y="1443407"/>
            <a:ext cx="536115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AsterPeak Software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Fictional U.S. B2B SaaS company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~$15–20M ARR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~100 employees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HubSpot → marketing &amp; early lifecycle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Salesforce → sales system of record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90EA6-ECEA-0EB4-B24B-A158942A5956}"/>
              </a:ext>
            </a:extLst>
          </p:cNvPr>
          <p:cNvSpPr txBox="1"/>
          <p:nvPr/>
        </p:nvSpPr>
        <p:spPr>
          <a:xfrm>
            <a:off x="570368" y="4927659"/>
            <a:ext cx="5361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Revenue teams:</a:t>
            </a:r>
            <a:r>
              <a:rPr lang="en-US" sz="2000" dirty="0"/>
              <a:t> Marketing Ops, SDRs, AEs, Sales Leadership, RevOps, Finance &amp; Legal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CA97D0-F6ED-2557-EE25-D2A4D5CAEF15}"/>
              </a:ext>
            </a:extLst>
          </p:cNvPr>
          <p:cNvSpPr/>
          <p:nvPr/>
        </p:nvSpPr>
        <p:spPr>
          <a:xfrm>
            <a:off x="7837283" y="1203710"/>
            <a:ext cx="3684760" cy="10644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90DA555-E069-1CBB-5FA6-5C78E0EDD36B}"/>
              </a:ext>
            </a:extLst>
          </p:cNvPr>
          <p:cNvSpPr/>
          <p:nvPr/>
        </p:nvSpPr>
        <p:spPr>
          <a:xfrm>
            <a:off x="7837283" y="2469613"/>
            <a:ext cx="3684760" cy="10644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D321318-1AD6-8850-B1F8-F6F7A2ECD9C7}"/>
              </a:ext>
            </a:extLst>
          </p:cNvPr>
          <p:cNvSpPr/>
          <p:nvPr/>
        </p:nvSpPr>
        <p:spPr>
          <a:xfrm>
            <a:off x="7837283" y="3735515"/>
            <a:ext cx="3684760" cy="10644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C1B1025-A9C4-B3EA-D257-2760D9F67097}"/>
              </a:ext>
            </a:extLst>
          </p:cNvPr>
          <p:cNvSpPr/>
          <p:nvPr/>
        </p:nvSpPr>
        <p:spPr>
          <a:xfrm>
            <a:off x="7837283" y="5001418"/>
            <a:ext cx="3684760" cy="10644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01D4EB-3D1A-94DC-6703-3F33E31116C9}"/>
              </a:ext>
            </a:extLst>
          </p:cNvPr>
          <p:cNvSpPr txBox="1"/>
          <p:nvPr/>
        </p:nvSpPr>
        <p:spPr>
          <a:xfrm>
            <a:off x="7973084" y="1274247"/>
            <a:ext cx="3413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CRM Data Quality</a:t>
            </a:r>
            <a:br>
              <a:rPr lang="en-US" dirty="0"/>
            </a:br>
            <a:r>
              <a:rPr lang="en-US" dirty="0"/>
              <a:t>Missing/inconsistent ownership, segmentation &amp; routing data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C228AA-E3DF-8D66-85ED-3F57EFFFE9D2}"/>
              </a:ext>
            </a:extLst>
          </p:cNvPr>
          <p:cNvSpPr txBox="1"/>
          <p:nvPr/>
        </p:nvSpPr>
        <p:spPr>
          <a:xfrm>
            <a:off x="7905182" y="2505670"/>
            <a:ext cx="3548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Pipeline &amp; Forecasting</a:t>
            </a:r>
            <a:br>
              <a:rPr lang="en-US" dirty="0"/>
            </a:br>
            <a:r>
              <a:rPr lang="en-US" dirty="0"/>
              <a:t>Stale opportunities, overdue close dates &amp; forecast exceptions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644FDF-6364-0539-D71E-E52FDFFB6D47}"/>
              </a:ext>
            </a:extLst>
          </p:cNvPr>
          <p:cNvSpPr txBox="1"/>
          <p:nvPr/>
        </p:nvSpPr>
        <p:spPr>
          <a:xfrm>
            <a:off x="7905182" y="3814982"/>
            <a:ext cx="376926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Lead Handoff</a:t>
            </a:r>
            <a:br>
              <a:rPr lang="en-US" sz="1700" dirty="0"/>
            </a:br>
            <a:r>
              <a:rPr lang="en-US" sz="1700" dirty="0"/>
              <a:t>Routing inconsistencies and unclear ownership across Marketing → Sales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68ABAE-2034-CE6C-A6CF-78C1CC27D38C}"/>
              </a:ext>
            </a:extLst>
          </p:cNvPr>
          <p:cNvSpPr txBox="1"/>
          <p:nvPr/>
        </p:nvSpPr>
        <p:spPr>
          <a:xfrm>
            <a:off x="7926308" y="5072921"/>
            <a:ext cx="3591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Commercial Governance</a:t>
            </a:r>
            <a:br>
              <a:rPr lang="en-US" dirty="0"/>
            </a:br>
            <a:r>
              <a:rPr lang="en-US" dirty="0"/>
              <a:t>Deal Desk approvals were not consistently documented in CRM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B0E789-FCE7-A640-3409-5C6699DB61F9}"/>
              </a:ext>
            </a:extLst>
          </p:cNvPr>
          <p:cNvSpPr txBox="1"/>
          <p:nvPr/>
        </p:nvSpPr>
        <p:spPr>
          <a:xfrm>
            <a:off x="0" y="6277216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Core challenge: </a:t>
            </a:r>
            <a:r>
              <a:rPr lang="en-US" sz="1600" dirty="0"/>
              <a:t>AsterPeak needed both better revenue visibility and stronger operational controls — not just another dashboard.</a:t>
            </a:r>
          </a:p>
        </p:txBody>
      </p:sp>
    </p:spTree>
    <p:extLst>
      <p:ext uri="{BB962C8B-B14F-4D97-AF65-F5344CB8AC3E}">
        <p14:creationId xmlns:p14="http://schemas.microsoft.com/office/powerpoint/2010/main" val="219145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1D5D-4C4A-48F9-B14C-A5E00EAD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788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Key Findings — What the Data Revealed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607D9-E6BF-184B-0152-C34C57EE3ACF}"/>
              </a:ext>
            </a:extLst>
          </p:cNvPr>
          <p:cNvSpPr txBox="1"/>
          <p:nvPr/>
        </p:nvSpPr>
        <p:spPr>
          <a:xfrm>
            <a:off x="0" y="602960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Key takeaway:</a:t>
            </a:r>
            <a:r>
              <a:rPr lang="en-US" sz="2000" dirty="0"/>
              <a:t> Forecast alignment was strong, but pipeline risk, routing exceptions, and Deal Desk evidence gaps created material operational risk.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8A26F3-8188-4EFB-71C4-9781FF43DA04}"/>
              </a:ext>
            </a:extLst>
          </p:cNvPr>
          <p:cNvSpPr/>
          <p:nvPr/>
        </p:nvSpPr>
        <p:spPr>
          <a:xfrm>
            <a:off x="425509" y="841972"/>
            <a:ext cx="5522617" cy="2426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F686C1-5D3E-2BE4-060B-B872F52F9520}"/>
              </a:ext>
            </a:extLst>
          </p:cNvPr>
          <p:cNvSpPr/>
          <p:nvPr/>
        </p:nvSpPr>
        <p:spPr>
          <a:xfrm>
            <a:off x="425512" y="3469192"/>
            <a:ext cx="5522614" cy="2426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8DC254-1AC3-F452-1EA7-786A5BD4360F}"/>
              </a:ext>
            </a:extLst>
          </p:cNvPr>
          <p:cNvSpPr/>
          <p:nvPr/>
        </p:nvSpPr>
        <p:spPr>
          <a:xfrm>
            <a:off x="6243876" y="841971"/>
            <a:ext cx="5522615" cy="2426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03CAF6-4F47-EEBA-3961-316F99F7CFC4}"/>
              </a:ext>
            </a:extLst>
          </p:cNvPr>
          <p:cNvSpPr/>
          <p:nvPr/>
        </p:nvSpPr>
        <p:spPr>
          <a:xfrm>
            <a:off x="6243876" y="3469191"/>
            <a:ext cx="5522615" cy="2426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356E63-7661-D6ED-BC43-CA000740D016}"/>
              </a:ext>
            </a:extLst>
          </p:cNvPr>
          <p:cNvSpPr txBox="1"/>
          <p:nvPr/>
        </p:nvSpPr>
        <p:spPr>
          <a:xfrm>
            <a:off x="425510" y="1454970"/>
            <a:ext cx="5522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$2.05M ARR at Risk</a:t>
            </a:r>
            <a:br>
              <a:rPr lang="en-US" sz="2000" dirty="0"/>
            </a:br>
            <a:r>
              <a:rPr lang="en-US" sz="2000" b="1" dirty="0"/>
              <a:t>53 open opportunities</a:t>
            </a:r>
            <a:r>
              <a:rPr lang="en-US" sz="2000" dirty="0"/>
              <a:t> were stale, overdue, or both</a:t>
            </a:r>
            <a:br>
              <a:rPr lang="en-US" sz="2000" dirty="0"/>
            </a:br>
            <a:r>
              <a:rPr lang="en-US" sz="2000" b="1" dirty="0"/>
              <a:t>34% of total open pipeline ARR</a:t>
            </a: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7B76E6-804E-2899-74EB-0BF8E7C67917}"/>
              </a:ext>
            </a:extLst>
          </p:cNvPr>
          <p:cNvSpPr txBox="1"/>
          <p:nvPr/>
        </p:nvSpPr>
        <p:spPr>
          <a:xfrm>
            <a:off x="6243873" y="1454969"/>
            <a:ext cx="55226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87.5% Routing Compatibility</a:t>
            </a:r>
            <a:br>
              <a:rPr lang="en-US" sz="2000" dirty="0"/>
            </a:br>
            <a:r>
              <a:rPr lang="en-US" sz="2000" dirty="0"/>
              <a:t>1,138 leads matched expected routing logic</a:t>
            </a:r>
            <a:br>
              <a:rPr lang="en-US" sz="2000" dirty="0"/>
            </a:br>
            <a:r>
              <a:rPr lang="en-US" sz="2000" dirty="0"/>
              <a:t>Exceptions included unassigned, territory, and segment issues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A5DCA4-4B64-7806-8A77-3D70A040875A}"/>
              </a:ext>
            </a:extLst>
          </p:cNvPr>
          <p:cNvSpPr txBox="1"/>
          <p:nvPr/>
        </p:nvSpPr>
        <p:spPr>
          <a:xfrm>
            <a:off x="425510" y="4187289"/>
            <a:ext cx="55226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95.7% Forecast Alignment</a:t>
            </a:r>
            <a:br>
              <a:rPr lang="en-US" sz="2000" dirty="0"/>
            </a:br>
            <a:r>
              <a:rPr lang="en-US" sz="2000" dirty="0"/>
              <a:t>847 of 885 forecast snapshots aligned</a:t>
            </a:r>
            <a:br>
              <a:rPr lang="en-US" sz="2000" dirty="0"/>
            </a:br>
            <a:r>
              <a:rPr lang="en-US" sz="2000" dirty="0"/>
              <a:t>38 exceptions remained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DFCF89-66A4-4827-5BF1-829A1C2211D4}"/>
              </a:ext>
            </a:extLst>
          </p:cNvPr>
          <p:cNvSpPr txBox="1"/>
          <p:nvPr/>
        </p:nvSpPr>
        <p:spPr>
          <a:xfrm>
            <a:off x="6243873" y="4174523"/>
            <a:ext cx="55226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40.7% Deal Desk Evidence Coverage</a:t>
            </a:r>
            <a:br>
              <a:rPr lang="en-US" sz="2000" dirty="0"/>
            </a:br>
            <a:r>
              <a:rPr lang="en-US" sz="2000" dirty="0"/>
              <a:t>150 closed opportunities met review criteria</a:t>
            </a:r>
            <a:br>
              <a:rPr lang="en-US" sz="2000" dirty="0"/>
            </a:br>
            <a:r>
              <a:rPr lang="en-US" sz="2000" dirty="0"/>
              <a:t>Only 61 had identifiable approval evidence</a:t>
            </a:r>
          </a:p>
        </p:txBody>
      </p:sp>
    </p:spTree>
    <p:extLst>
      <p:ext uri="{BB962C8B-B14F-4D97-AF65-F5344CB8AC3E}">
        <p14:creationId xmlns:p14="http://schemas.microsoft.com/office/powerpoint/2010/main" val="4132315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7FEB-1384-6297-2C82-6FAC40A7F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5430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Pipeline, Forecast &amp; Routing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D009BA-029A-44A6-670F-41F0A460BF07}"/>
              </a:ext>
            </a:extLst>
          </p:cNvPr>
          <p:cNvSpPr txBox="1"/>
          <p:nvPr/>
        </p:nvSpPr>
        <p:spPr>
          <a:xfrm>
            <a:off x="0" y="6495905"/>
            <a:ext cx="1219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/>
              <a:t>Key Takeaway: </a:t>
            </a:r>
            <a:r>
              <a:rPr lang="en-US" sz="1400" dirty="0"/>
              <a:t>Pipeline hygiene and routing exceptions represented the primary operational risks, while overall forecast alignment remained strong.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38F6F1-5400-9859-2BDC-8798876F23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" r="336"/>
          <a:stretch>
            <a:fillRect/>
          </a:stretch>
        </p:blipFill>
        <p:spPr>
          <a:xfrm>
            <a:off x="0" y="579186"/>
            <a:ext cx="12192000" cy="15964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95B02A-97E3-E709-55BA-0B561C525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9" t="1760" r="668" b="2347"/>
          <a:stretch>
            <a:fillRect/>
          </a:stretch>
        </p:blipFill>
        <p:spPr>
          <a:xfrm>
            <a:off x="0" y="2578358"/>
            <a:ext cx="12191999" cy="15309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665577-B6B6-3B97-50F9-4BFE7E2DC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1321"/>
            <a:ext cx="12192001" cy="15964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F0D3EB-FD46-A440-3E2A-41F834F21C81}"/>
              </a:ext>
            </a:extLst>
          </p:cNvPr>
          <p:cNvSpPr txBox="1"/>
          <p:nvPr/>
        </p:nvSpPr>
        <p:spPr>
          <a:xfrm>
            <a:off x="0" y="21756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Pipeline Health: </a:t>
            </a:r>
            <a:r>
              <a:rPr lang="en-US" dirty="0"/>
              <a:t>53 flagged opportunities / $2.05M ARR at risk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0BEB7F-5C09-4D1A-1AA6-A64A95DFDC15}"/>
              </a:ext>
            </a:extLst>
          </p:cNvPr>
          <p:cNvSpPr txBox="1"/>
          <p:nvPr/>
        </p:nvSpPr>
        <p:spPr>
          <a:xfrm>
            <a:off x="0" y="4146742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Forecast Reliability: </a:t>
            </a:r>
            <a:r>
              <a:rPr lang="en-US" dirty="0"/>
              <a:t>95.7% aligned / 38 exceptions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5CC232-79A2-E133-908A-59179560DA86}"/>
              </a:ext>
            </a:extLst>
          </p:cNvPr>
          <p:cNvSpPr txBox="1"/>
          <p:nvPr/>
        </p:nvSpPr>
        <p:spPr>
          <a:xfrm>
            <a:off x="-1" y="6123056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Lead Routing: </a:t>
            </a:r>
            <a:r>
              <a:rPr lang="en-US" dirty="0"/>
              <a:t>87.5% compatible / 162 exceptions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02771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ABB0-D5BC-28FD-1643-04CE6A26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54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Salesforce Governance Implementation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5415A5-E533-0DD2-A0F6-B82B42F61171}"/>
              </a:ext>
            </a:extLst>
          </p:cNvPr>
          <p:cNvSpPr txBox="1"/>
          <p:nvPr/>
        </p:nvSpPr>
        <p:spPr>
          <a:xfrm>
            <a:off x="0" y="644380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Key takeaway: </a:t>
            </a:r>
            <a:r>
              <a:rPr lang="en-US" sz="1400" dirty="0"/>
              <a:t>Analytics identified the risks; Salesforce governance combined preventative controls with operational monitoring at the point of execution.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2A1292-7A40-124F-7363-BECE42D11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7514"/>
            <a:ext cx="12192000" cy="21883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BA3C35E-363E-6131-AFB8-6D60A596B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" t="1358" r="450" b="1358"/>
          <a:stretch>
            <a:fillRect/>
          </a:stretch>
        </p:blipFill>
        <p:spPr>
          <a:xfrm>
            <a:off x="0" y="615488"/>
            <a:ext cx="12192000" cy="294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54B776-883D-1E17-9219-2A7B3A3FF69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5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Salesforce Governance at the Record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1D565-7629-AF4D-F6A1-398042B40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260" y="497940"/>
            <a:ext cx="9054740" cy="5940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856F6D-CC58-1B54-A41C-B3A964FF7F70}"/>
              </a:ext>
            </a:extLst>
          </p:cNvPr>
          <p:cNvSpPr txBox="1"/>
          <p:nvPr/>
        </p:nvSpPr>
        <p:spPr>
          <a:xfrm>
            <a:off x="0" y="642079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Key takeaway: </a:t>
            </a:r>
            <a:r>
              <a:rPr lang="en-US" dirty="0"/>
              <a:t>Governance was enforced at the individual opportunity level, not just documented in policy or reporting.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9D78AE-A7A6-8436-96F3-A9C6A66FE904}"/>
              </a:ext>
            </a:extLst>
          </p:cNvPr>
          <p:cNvCxnSpPr>
            <a:cxnSpLocks/>
          </p:cNvCxnSpPr>
          <p:nvPr/>
        </p:nvCxnSpPr>
        <p:spPr>
          <a:xfrm>
            <a:off x="2643612" y="1539089"/>
            <a:ext cx="493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2059CD-F6A4-9169-8335-1A0A3465B446}"/>
              </a:ext>
            </a:extLst>
          </p:cNvPr>
          <p:cNvSpPr/>
          <p:nvPr/>
        </p:nvSpPr>
        <p:spPr>
          <a:xfrm>
            <a:off x="99588" y="1113576"/>
            <a:ext cx="2544024" cy="1041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5CFA78-A8A8-9778-227A-A8FD33D0643D}"/>
              </a:ext>
            </a:extLst>
          </p:cNvPr>
          <p:cNvSpPr txBox="1"/>
          <p:nvPr/>
        </p:nvSpPr>
        <p:spPr>
          <a:xfrm>
            <a:off x="199176" y="1264818"/>
            <a:ext cx="24444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Commit Stage</a:t>
            </a:r>
            <a:br>
              <a:rPr lang="en-US" sz="1400" dirty="0"/>
            </a:br>
            <a:r>
              <a:rPr lang="en-US" sz="1400" dirty="0"/>
              <a:t>Opportunity reached the gated late-stage point.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9C8A17-9761-CB0F-08EE-258C3596F5DB}"/>
              </a:ext>
            </a:extLst>
          </p:cNvPr>
          <p:cNvSpPr/>
          <p:nvPr/>
        </p:nvSpPr>
        <p:spPr>
          <a:xfrm>
            <a:off x="92915" y="4071122"/>
            <a:ext cx="2544024" cy="1041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88E252A-89D3-6C5B-154F-3663AFFB5A1B}"/>
              </a:ext>
            </a:extLst>
          </p:cNvPr>
          <p:cNvCxnSpPr>
            <a:cxnSpLocks/>
          </p:cNvCxnSpPr>
          <p:nvPr/>
        </p:nvCxnSpPr>
        <p:spPr>
          <a:xfrm>
            <a:off x="2636939" y="4994724"/>
            <a:ext cx="588475" cy="520574"/>
          </a:xfrm>
          <a:prstGeom prst="bentConnector3">
            <a:avLst>
              <a:gd name="adj1" fmla="val 3923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53F3E9-0BC2-40E8-F27F-E7E080673DAD}"/>
              </a:ext>
            </a:extLst>
          </p:cNvPr>
          <p:cNvSpPr txBox="1"/>
          <p:nvPr/>
        </p:nvSpPr>
        <p:spPr>
          <a:xfrm>
            <a:off x="192503" y="4222364"/>
            <a:ext cx="24444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Deal Desk Required = True</a:t>
            </a:r>
            <a:br>
              <a:rPr lang="en-US" sz="1400" dirty="0"/>
            </a:br>
            <a:r>
              <a:rPr lang="en-US" sz="1400" dirty="0"/>
              <a:t>Commercial review was triggered.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A95A268-CEBB-ED06-BAFB-BAB8D44C4C18}"/>
              </a:ext>
            </a:extLst>
          </p:cNvPr>
          <p:cNvSpPr/>
          <p:nvPr/>
        </p:nvSpPr>
        <p:spPr>
          <a:xfrm>
            <a:off x="92915" y="5341569"/>
            <a:ext cx="2544024" cy="1041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F3009DD-F43C-458A-B834-15A35FAD6DD2}"/>
              </a:ext>
            </a:extLst>
          </p:cNvPr>
          <p:cNvCxnSpPr>
            <a:stCxn id="32" idx="3"/>
          </p:cNvCxnSpPr>
          <p:nvPr/>
        </p:nvCxnSpPr>
        <p:spPr>
          <a:xfrm flipV="1">
            <a:off x="2636939" y="5848539"/>
            <a:ext cx="588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A3C5A90-A4EA-A71A-9CBB-DB89574892E8}"/>
              </a:ext>
            </a:extLst>
          </p:cNvPr>
          <p:cNvSpPr txBox="1"/>
          <p:nvPr/>
        </p:nvSpPr>
        <p:spPr>
          <a:xfrm>
            <a:off x="142709" y="5395105"/>
            <a:ext cx="25440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Deal Desk Approval Status = Approved</a:t>
            </a:r>
            <a:br>
              <a:rPr lang="en-US" sz="1300" dirty="0"/>
            </a:br>
            <a:r>
              <a:rPr lang="en-US" sz="1300" dirty="0"/>
              <a:t>Required approval is documented before progression.</a:t>
            </a:r>
          </a:p>
        </p:txBody>
      </p:sp>
    </p:spTree>
    <p:extLst>
      <p:ext uri="{BB962C8B-B14F-4D97-AF65-F5344CB8AC3E}">
        <p14:creationId xmlns:p14="http://schemas.microsoft.com/office/powerpoint/2010/main" val="6120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50D3-194C-3CF3-F84A-7B989F37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78598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Process &amp; Deal Desk Operating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138A0-FDB9-B225-2187-0E9E900A720B}"/>
              </a:ext>
            </a:extLst>
          </p:cNvPr>
          <p:cNvSpPr txBox="1"/>
          <p:nvPr/>
        </p:nvSpPr>
        <p:spPr>
          <a:xfrm>
            <a:off x="0" y="61327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Key takeaway:</a:t>
            </a:r>
            <a:r>
              <a:rPr lang="en-US" dirty="0"/>
              <a:t> AsterPeak’s RevOps model connected lifecycle management, pipeline discipline, and commercial approvals into one governed operating process.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58B405-6ACC-70BB-3A7E-ECD39E08B1B8}"/>
              </a:ext>
            </a:extLst>
          </p:cNvPr>
          <p:cNvSpPr/>
          <p:nvPr/>
        </p:nvSpPr>
        <p:spPr>
          <a:xfrm>
            <a:off x="121466" y="778598"/>
            <a:ext cx="3902043" cy="4236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619836-BA8F-3847-2FF9-1B485835C379}"/>
              </a:ext>
            </a:extLst>
          </p:cNvPr>
          <p:cNvSpPr/>
          <p:nvPr/>
        </p:nvSpPr>
        <p:spPr>
          <a:xfrm>
            <a:off x="4144975" y="778599"/>
            <a:ext cx="3902043" cy="42362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16C296-770B-DFC7-2008-76A0147404DB}"/>
              </a:ext>
            </a:extLst>
          </p:cNvPr>
          <p:cNvSpPr/>
          <p:nvPr/>
        </p:nvSpPr>
        <p:spPr>
          <a:xfrm>
            <a:off x="8168484" y="778599"/>
            <a:ext cx="3902043" cy="42362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0743FE-AF0A-8102-A65B-D2FAB0E56C34}"/>
              </a:ext>
            </a:extLst>
          </p:cNvPr>
          <p:cNvSpPr txBox="1"/>
          <p:nvPr/>
        </p:nvSpPr>
        <p:spPr>
          <a:xfrm>
            <a:off x="121466" y="966014"/>
            <a:ext cx="3902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Marketing-to-Sales Handoff</a:t>
            </a:r>
          </a:p>
          <a:p>
            <a:pPr algn="ctr"/>
            <a:r>
              <a:rPr lang="en-US" sz="1400" dirty="0"/>
              <a:t>Lead </a:t>
            </a:r>
            <a:r>
              <a:rPr lang="en-US" sz="1400" dirty="0">
                <a:sym typeface="Wingdings" panose="05000000000000000000" pitchFamily="2" charset="2"/>
              </a:rPr>
              <a:t> MQL SQL  Opportunity  Customer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4C192B-CFFF-B41A-1CDC-C529173D143F}"/>
              </a:ext>
            </a:extLst>
          </p:cNvPr>
          <p:cNvSpPr txBox="1"/>
          <p:nvPr/>
        </p:nvSpPr>
        <p:spPr>
          <a:xfrm>
            <a:off x="4144969" y="966014"/>
            <a:ext cx="390204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Pipeline Governance</a:t>
            </a:r>
          </a:p>
          <a:p>
            <a:pPr algn="ctr"/>
            <a:r>
              <a:rPr lang="en-US" sz="1400" dirty="0"/>
              <a:t>Discovery </a:t>
            </a:r>
            <a:r>
              <a:rPr lang="en-US" sz="1400" dirty="0">
                <a:sym typeface="Wingdings" panose="05000000000000000000" pitchFamily="2" charset="2"/>
              </a:rPr>
              <a:t> Qualification  Solution Eval  Proposal  Negotiation / Legal  Commit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90292B-D5B6-D856-A9A6-365E8B4BD80A}"/>
              </a:ext>
            </a:extLst>
          </p:cNvPr>
          <p:cNvSpPr txBox="1"/>
          <p:nvPr/>
        </p:nvSpPr>
        <p:spPr>
          <a:xfrm>
            <a:off x="8168471" y="966014"/>
            <a:ext cx="3902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Deal Desk Governance</a:t>
            </a:r>
          </a:p>
          <a:p>
            <a:pPr algn="ctr"/>
            <a:r>
              <a:rPr lang="en-US" sz="1400" dirty="0"/>
              <a:t>Trigger </a:t>
            </a:r>
            <a:r>
              <a:rPr lang="en-US" sz="1400" dirty="0">
                <a:sym typeface="Wingdings" panose="05000000000000000000" pitchFamily="2" charset="2"/>
              </a:rPr>
              <a:t> Review  Approval  Salesforce Gate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90D89C-1C27-624D-3272-E918B3CD4A6D}"/>
              </a:ext>
            </a:extLst>
          </p:cNvPr>
          <p:cNvSpPr txBox="1"/>
          <p:nvPr/>
        </p:nvSpPr>
        <p:spPr>
          <a:xfrm>
            <a:off x="0" y="54863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Supporting governance:</a:t>
            </a:r>
            <a:r>
              <a:rPr lang="en-US" dirty="0"/>
              <a:t> Formal process maps and SOPs document ownership, escalation paths, and repeatable execution across all three workflows.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8DEE10-AEB0-F140-ED97-7309558DC728}"/>
              </a:ext>
            </a:extLst>
          </p:cNvPr>
          <p:cNvSpPr txBox="1"/>
          <p:nvPr/>
        </p:nvSpPr>
        <p:spPr>
          <a:xfrm>
            <a:off x="207473" y="2255335"/>
            <a:ext cx="37300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Segment + territory routing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SDR assignment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4-business-hour MQL follow-up SLA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HubSpot early lifecycle → Salesforce after conversion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336BBD-76FF-0DB9-2D5D-9710168D957A}"/>
              </a:ext>
            </a:extLst>
          </p:cNvPr>
          <p:cNvSpPr txBox="1"/>
          <p:nvPr/>
        </p:nvSpPr>
        <p:spPr>
          <a:xfrm>
            <a:off x="4316984" y="2255335"/>
            <a:ext cx="37300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Required opportunity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Stage-aligned forecast categories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Stale / overdue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Seller + Sales Leadership remediation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F1C84-55C9-F157-EBFA-60B06C89929D}"/>
              </a:ext>
            </a:extLst>
          </p:cNvPr>
          <p:cNvSpPr txBox="1"/>
          <p:nvPr/>
        </p:nvSpPr>
        <p:spPr>
          <a:xfrm>
            <a:off x="8259009" y="2255334"/>
            <a:ext cx="37300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&gt;10% discount or $100K+ ARR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Nonstandard commercial terms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RevOps / Sales / Finance / Legal routing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Approval required before Commit / Closed Won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07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FF16-2721-BBDE-A16A-EE4D188BD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83"/>
            <a:ext cx="12192000" cy="5883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Executive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1059B-8D5B-F3DC-05A0-93805388F40E}"/>
              </a:ext>
            </a:extLst>
          </p:cNvPr>
          <p:cNvSpPr txBox="1"/>
          <p:nvPr/>
        </p:nvSpPr>
        <p:spPr>
          <a:xfrm>
            <a:off x="0" y="634276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Priority:</a:t>
            </a:r>
            <a:r>
              <a:rPr lang="en-US" dirty="0"/>
              <a:t> Shift RevOps from reactive reporting and cleanup toward continuous, system-enforced revenue governance.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C3D5EA-5C25-F656-31EC-1F833413760B}"/>
              </a:ext>
            </a:extLst>
          </p:cNvPr>
          <p:cNvSpPr/>
          <p:nvPr/>
        </p:nvSpPr>
        <p:spPr>
          <a:xfrm>
            <a:off x="217282" y="825725"/>
            <a:ext cx="5739897" cy="2533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159892-C085-4927-681D-A390EBD6BA0F}"/>
              </a:ext>
            </a:extLst>
          </p:cNvPr>
          <p:cNvSpPr/>
          <p:nvPr/>
        </p:nvSpPr>
        <p:spPr>
          <a:xfrm>
            <a:off x="6234821" y="825725"/>
            <a:ext cx="5739897" cy="2533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A8026D6-6A56-9730-1E11-3B921921E487}"/>
              </a:ext>
            </a:extLst>
          </p:cNvPr>
          <p:cNvSpPr/>
          <p:nvPr/>
        </p:nvSpPr>
        <p:spPr>
          <a:xfrm>
            <a:off x="217283" y="3596236"/>
            <a:ext cx="3784350" cy="25362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33F2E02-D85B-D7A8-DC6D-9499BEB1A78E}"/>
              </a:ext>
            </a:extLst>
          </p:cNvPr>
          <p:cNvSpPr/>
          <p:nvPr/>
        </p:nvSpPr>
        <p:spPr>
          <a:xfrm>
            <a:off x="4203825" y="3596233"/>
            <a:ext cx="3784350" cy="2536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ABF6E53-C0F0-1B9A-C74D-18853E51F3BB}"/>
              </a:ext>
            </a:extLst>
          </p:cNvPr>
          <p:cNvSpPr/>
          <p:nvPr/>
        </p:nvSpPr>
        <p:spPr>
          <a:xfrm>
            <a:off x="8190367" y="3596233"/>
            <a:ext cx="3784350" cy="2536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6C7B2E-CEDA-EAEC-580A-43A54623DE4E}"/>
              </a:ext>
            </a:extLst>
          </p:cNvPr>
          <p:cNvSpPr txBox="1"/>
          <p:nvPr/>
        </p:nvSpPr>
        <p:spPr>
          <a:xfrm>
            <a:off x="411931" y="982696"/>
            <a:ext cx="535059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US" b="1" dirty="0"/>
              <a:t>Strengthen CRM Data Governance</a:t>
            </a:r>
          </a:p>
          <a:p>
            <a:pPr algn="ctr"/>
            <a:r>
              <a:rPr lang="en-US" dirty="0"/>
              <a:t>Prevent errors where possible; audit exceptions that cannot be prevented.</a:t>
            </a:r>
          </a:p>
          <a:p>
            <a:pPr algn="ctr"/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Required-field standards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Ownership, segment &amp; territory governance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Recurring RevOps data-quality reviews</a:t>
            </a:r>
          </a:p>
          <a:p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399B51-CA59-95B6-439A-CE775FE30EEC}"/>
              </a:ext>
            </a:extLst>
          </p:cNvPr>
          <p:cNvSpPr txBox="1"/>
          <p:nvPr/>
        </p:nvSpPr>
        <p:spPr>
          <a:xfrm>
            <a:off x="6365341" y="982696"/>
            <a:ext cx="54788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 startAt="2"/>
            </a:pPr>
            <a:r>
              <a:rPr lang="en-US" b="1" dirty="0"/>
              <a:t>Improve Pipeline Hygiene &amp; Forecast Reliability</a:t>
            </a:r>
          </a:p>
          <a:p>
            <a:pPr algn="ctr"/>
            <a:r>
              <a:rPr lang="en-US" dirty="0"/>
              <a:t>Make pipeline review a recurring management process.</a:t>
            </a:r>
          </a:p>
          <a:p>
            <a:pPr algn="ctr"/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Review stale &amp; overdue opportunities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Enforce stage / close-date accuracy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Surface forecast exceptions</a:t>
            </a:r>
          </a:p>
          <a:p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7727CB-361F-AF78-3224-287DFA3C1BFF}"/>
              </a:ext>
            </a:extLst>
          </p:cNvPr>
          <p:cNvSpPr txBox="1"/>
          <p:nvPr/>
        </p:nvSpPr>
        <p:spPr>
          <a:xfrm>
            <a:off x="217282" y="3716780"/>
            <a:ext cx="37843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 startAt="3"/>
            </a:pPr>
            <a:r>
              <a:rPr lang="en-US" b="1" dirty="0"/>
              <a:t>Formalize Marketing-to-Sales Handoff</a:t>
            </a:r>
          </a:p>
          <a:p>
            <a:pPr algn="ctr">
              <a:buNone/>
            </a:pPr>
            <a:r>
              <a:rPr lang="en-US" dirty="0"/>
              <a:t>Standardize qualification, routing and response expectations.</a:t>
            </a:r>
          </a:p>
          <a:p>
            <a:pPr algn="ctr">
              <a:buNone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MQL criteria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Segment + territory routing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4-business-hour follow-up SLA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1878FE-D820-6479-38F1-790924E10C5B}"/>
              </a:ext>
            </a:extLst>
          </p:cNvPr>
          <p:cNvSpPr txBox="1"/>
          <p:nvPr/>
        </p:nvSpPr>
        <p:spPr>
          <a:xfrm>
            <a:off x="4203824" y="3816284"/>
            <a:ext cx="378435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 startAt="4"/>
            </a:pPr>
            <a:r>
              <a:rPr lang="en-US" b="1" dirty="0"/>
              <a:t>Enforce Deal Desk Governance</a:t>
            </a:r>
          </a:p>
          <a:p>
            <a:pPr algn="ctr"/>
            <a:r>
              <a:rPr lang="en-US" dirty="0"/>
              <a:t>Document commercial exceptions before late-stage progression.</a:t>
            </a:r>
          </a:p>
          <a:p>
            <a:pPr algn="ctr">
              <a:buNone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Configured Deal Desk triggers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Cross-functional approval routing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Approval recorded in Salesforce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59FF44-E5BB-94F3-5607-F4E09B46B3D9}"/>
              </a:ext>
            </a:extLst>
          </p:cNvPr>
          <p:cNvSpPr txBox="1"/>
          <p:nvPr/>
        </p:nvSpPr>
        <p:spPr>
          <a:xfrm>
            <a:off x="8190366" y="3716780"/>
            <a:ext cx="378435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 startAt="5"/>
            </a:pPr>
            <a:r>
              <a:rPr lang="en-US" b="1" dirty="0"/>
              <a:t>Establish Ongoing RevOps Operating Cadence</a:t>
            </a:r>
          </a:p>
          <a:p>
            <a:pPr algn="ctr"/>
            <a:r>
              <a:rPr lang="en-US" dirty="0"/>
              <a:t>Turn one-time cleanup into continuous governance.</a:t>
            </a:r>
          </a:p>
          <a:p>
            <a:pPr algn="ctr"/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Weekly pipeline review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Routing / CRM exception monitoring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Periodic Deal Desk review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175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1A08-AC1B-FC98-BE40-0EA88948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5758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Business Impact &amp; Project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DE3CAC-2AC9-094F-B814-9B338B2C3642}"/>
              </a:ext>
            </a:extLst>
          </p:cNvPr>
          <p:cNvSpPr txBox="1"/>
          <p:nvPr/>
        </p:nvSpPr>
        <p:spPr>
          <a:xfrm>
            <a:off x="0" y="6447819"/>
            <a:ext cx="12192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/>
              <a:t>Note:</a:t>
            </a:r>
            <a:r>
              <a:rPr lang="en-US" sz="1300" dirty="0"/>
              <a:t> AsterPeak Software and all underlying data are synthetic; business impact reflects expected operational value rather than realized production outcomes.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D5C61-187E-5C76-249A-CDC7AADE70E5}"/>
              </a:ext>
            </a:extLst>
          </p:cNvPr>
          <p:cNvSpPr txBox="1"/>
          <p:nvPr/>
        </p:nvSpPr>
        <p:spPr>
          <a:xfrm>
            <a:off x="0" y="576635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Project outcome:</a:t>
            </a:r>
            <a:r>
              <a:rPr lang="en-US" sz="1600" dirty="0"/>
              <a:t> Built an end-to-end Revenue Operations operating model that connected analysis, reporting, CRM governance, and repeatable business processes.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E9BB35-98AF-C049-77EE-8ABB394BCC27}"/>
              </a:ext>
            </a:extLst>
          </p:cNvPr>
          <p:cNvSpPr/>
          <p:nvPr/>
        </p:nvSpPr>
        <p:spPr>
          <a:xfrm>
            <a:off x="153908" y="769547"/>
            <a:ext cx="5776111" cy="46082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F76493-087A-5801-87F2-67D29E0E66C4}"/>
              </a:ext>
            </a:extLst>
          </p:cNvPr>
          <p:cNvSpPr/>
          <p:nvPr/>
        </p:nvSpPr>
        <p:spPr>
          <a:xfrm>
            <a:off x="6261983" y="769547"/>
            <a:ext cx="5776111" cy="46082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46C596-A62C-7857-D3F5-381FD7244163}"/>
              </a:ext>
            </a:extLst>
          </p:cNvPr>
          <p:cNvSpPr txBox="1"/>
          <p:nvPr/>
        </p:nvSpPr>
        <p:spPr>
          <a:xfrm>
            <a:off x="627708" y="1145080"/>
            <a:ext cx="50065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Business Impact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Cleaner, more reliable CRM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Stronger pipeline hygiene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More credible forecasting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More consistent lead handoff and follow-up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Better Deal Desk approval traceability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Reduced risk of undocumented commercial exceptions</a:t>
            </a:r>
          </a:p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B7E63-6266-421A-F5C4-81CF29B7C3CA}"/>
              </a:ext>
            </a:extLst>
          </p:cNvPr>
          <p:cNvSpPr txBox="1"/>
          <p:nvPr/>
        </p:nvSpPr>
        <p:spPr>
          <a:xfrm>
            <a:off x="6646753" y="1145080"/>
            <a:ext cx="500656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What This Project Demonstrated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SQL analysis and reconciliation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Excel audit workflows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Power BI executive reporting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Salesforce configuration and governance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Lead, pipeline, forecast, and Deal Desk process design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SOPs, executive recommendations, and business communication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684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822</Words>
  <Application>Microsoft Office PowerPoint</Application>
  <PresentationFormat>Widescreen</PresentationFormat>
  <Paragraphs>109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AsterPeak Revenue Operations Command Center</vt:lpstr>
      <vt:lpstr>Business Context &amp; RevOps Challenges</vt:lpstr>
      <vt:lpstr>Key Findings — What the Data Revealed</vt:lpstr>
      <vt:lpstr>Pipeline, Forecast &amp; Routing Risk</vt:lpstr>
      <vt:lpstr>Salesforce Governance Implementation</vt:lpstr>
      <vt:lpstr>PowerPoint Presentation</vt:lpstr>
      <vt:lpstr>Process &amp; Deal Desk Operating Model</vt:lpstr>
      <vt:lpstr>Executive Recommendations</vt:lpstr>
      <vt:lpstr>Business Impact &amp; Project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Medders</dc:creator>
  <cp:lastModifiedBy>Tyler Medders</cp:lastModifiedBy>
  <cp:revision>7</cp:revision>
  <dcterms:created xsi:type="dcterms:W3CDTF">2026-10-07T17:53:07Z</dcterms:created>
  <dcterms:modified xsi:type="dcterms:W3CDTF">2026-10-07T22:50:41Z</dcterms:modified>
</cp:coreProperties>
</file>